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~20s -- Set the scene, no tech. 'Tonight I want to tell you the story of teaching a camera to see every person in a crowd -- separately, correctly, and steadily over time.'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~35s -- The problem in one image. Left: today's best models fuse overlapping people into one blob at one depth. Right (V2): a real clip of a foundation model failing on a group. 'Everything great about modern depth estimation stops at the edge of a crowd.'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~35s -- Three reasons this is genuinely hard. 1: the pixels you need are hidden. 2: a half-hidden person inherits the depth of whoever covers them. 3: video -- every frame answers slightly differently, so depth shimmers. 'The evidence is missing, borrowed, or unstable.'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~20s -- What success looks like, in plain words. Four promises: depth for each person, correct even while overlapped, steady across the whole video, and in real metres -- not relative shades.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~35s -- The unglamorous truth, and a real contribution. There was no dataset for this. All we were handed was RGB frames and their raw depth maps -- no masks, no identities, no per-person depth. So we built the entire ground-truth stack ourselves: segment every person, give each a stable identity across the whole video, assign each their depth layer, and label who occludes whom. Everything after the arrow is ours.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~40s -- The whole idea in one picture, following the ICCV-2025 InstanceDepth recipe. Pass 1 paints the scene's depth. Pass 2 finds each person and their depth layer. Pass 3 looks at every overlapping pair and fixes the depths where they collide. Our addition wraps the whole thing in time: remember people between frames.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~50s -- Pass 1 results, and the payoff of the temporal fix. Left: scenes come out sharp. Right, the real numbers on the full 10,400-frame test set: once we froze the scene model and added only the memory module, EVERY number improved at once -- more accurate AND steadier. This is the module that used to do nothing; now it earns its place.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~50s -- Pass 2. Masks are excellent on our data. The problem: the segmenter re-answers 'who is who' from scratch every frame, so the same person strobes colours. The fix: match each person to the previous frame by overlap, and hold identity even through a brief disappearance. Demo note: this is the --track-instances flag; always run the demo with it 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~45s -- Pass 3 results. Where two people overlap is exactly where depth is hardest -- and exactly where our refinement helps: overlap-region error drops 0.056 to 0.055, with 98.6% of overlap pixels within the tight accuracy band. Just as important is what it can NEVER do: by design the scene model is frozen and each per-person correction is capped at ±15%, so refinement is guaranteed to leave the rest of the scene untouched. Show V4: refined vs base, side by side, on a real overlap.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~30s -- Everything on one card, all measured on the full 10,400-frame test set. Scene depth: error 0.072, 94.1% accuracy, and steadier than the per-frame baseline. People: found, followed, and kept -- one identity per person for the whole video, held through occlusions. Overlaps: 0.055 error right where bodies cross, 98.6% accuracy there. This is the slide to leave on screen during questions.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~35s -- What in this project is OURS, beyond the paper we started from. 1: the dataset itself -- fully annotated by us from nothing but RGB and raw depth. 2: the temporal memory and the loss that trains it -- the paper is single-frame; we made it video-native. 3: identities that persist -- the paper re-finds people every frame; we follow them, even through occlusions. 4: refinement that is safe by construction -- frozen scene, capped corrections.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~30s -- Let it speak for itself. One person walks behind another and comes out the other side: same colour, same depth, and the scene never wavers. Everything from the last five slides, in one clip. (Render with --track-instances; add --depth-range / --smooth-depth for foreign footage.)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~25s -- What's next, in order. 1 (already running): swap in the full pretrained depth model -- not just its backbone -- to push accuracy further, especially close-up. 2: robustness on footage from other cameras and places. 3: the write-up.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~20s -- Close the loop with slide 4: we opened with four promises; here they are again, each with its receipt. Depth for each person -- delivered as per-person layers. Correct through overlaps -- 0.055 where bodies cross. Steady across frames -- flicker down, identities locked. Real metres -- 0.072 relative error on 10,400 frames. The promises held.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~15s -- Thanks + where to look. QR to the repo. Offer the backup slide if anyone wants the media checklist.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Backup only -- not part of the 8 minutes. Every placeholder, where it goes, its size, and the exact repo command. The two demo clips (V3b, V5) MUST use --track-instances so identities don't flicker.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6126480"/>
            <a:ext cx="12191695" cy="731520"/>
          </a:xfrm>
          <a:prstGeom prst="roundRect">
            <a:avLst>
              <a:gd name="adj" fmla="val 6000"/>
            </a:avLst>
          </a:prstGeom>
          <a:solidFill>
            <a:srgbClr val="B07D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0" y="5852160"/>
            <a:ext cx="12191695" cy="292608"/>
          </a:xfrm>
          <a:prstGeom prst="roundRect">
            <a:avLst>
              <a:gd name="adj" fmla="val 6000"/>
            </a:avLst>
          </a:prstGeom>
          <a:solidFill>
            <a:srgbClr val="1FA4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0" y="5623560"/>
            <a:ext cx="12191695" cy="201168"/>
          </a:xfrm>
          <a:prstGeom prst="roundRect">
            <a:avLst>
              <a:gd name="adj" fmla="val 6000"/>
            </a:avLst>
          </a:prstGeom>
          <a:solidFill>
            <a:srgbClr val="3E6F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412480" y="4572000"/>
            <a:ext cx="731520" cy="1554480"/>
          </a:xfrm>
          <a:prstGeom prst="roundRect">
            <a:avLst>
              <a:gd name="adj" fmla="val 6000"/>
            </a:avLst>
          </a:prstGeom>
          <a:solidFill>
            <a:srgbClr val="3E6F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144000" y="4114800"/>
            <a:ext cx="868680" cy="2011680"/>
          </a:xfrm>
          <a:prstGeom prst="roundRect">
            <a:avLst>
              <a:gd name="adj" fmla="val 6000"/>
            </a:avLst>
          </a:prstGeom>
          <a:solidFill>
            <a:srgbClr val="1FA4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9966960" y="3474720"/>
            <a:ext cx="1005840" cy="2651760"/>
          </a:xfrm>
          <a:prstGeom prst="roundRect">
            <a:avLst>
              <a:gd name="adj" fmla="val 6000"/>
            </a:avLst>
          </a:prstGeom>
          <a:solidFill>
            <a:srgbClr val="B07D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37160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F5B63F"/>
                </a:solidFill>
                <a:latin typeface="Consolas"/>
              </a:rPr>
              <a:t>A RESEARCH JOURNEY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1828800"/>
            <a:ext cx="84124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5400" b="1">
                <a:solidFill>
                  <a:srgbClr val="E9EDF3"/>
                </a:solidFill>
                <a:latin typeface="Segoe UI"/>
              </a:rPr>
              <a:t>Seeing every person's depth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3200400"/>
            <a:ext cx="7680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0">
                <a:solidFill>
                  <a:srgbClr val="93A3B5"/>
                </a:solidFill>
                <a:latin typeface="Segoe UI"/>
              </a:rPr>
              <a:t>Instance-level video depth in crowded scenes -- beyond occlusions.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621792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5C6B7E"/>
                </a:solidFill>
                <a:latin typeface="Consolas"/>
              </a:rPr>
              <a:t>K. S. Janjua  ·  lab meeting  ·  July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64008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F5B63F"/>
                </a:solidFill>
                <a:latin typeface="Consolas"/>
              </a:rPr>
              <a:t>THE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051560"/>
            <a:ext cx="100584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400" b="1">
                <a:solidFill>
                  <a:srgbClr val="E9EDF3"/>
                </a:solidFill>
                <a:latin typeface="Segoe UI"/>
              </a:rPr>
              <a:t>Cameras flatten crowds.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2286000"/>
            <a:ext cx="5394960" cy="3657600"/>
          </a:xfrm>
          <a:prstGeom prst="roundRect">
            <a:avLst>
              <a:gd name="adj" fmla="val 6000"/>
            </a:avLst>
          </a:prstGeom>
          <a:solidFill>
            <a:srgbClr val="182230"/>
          </a:solidFill>
          <a:ln w="12700">
            <a:solidFill>
              <a:srgbClr val="2A35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2468880"/>
            <a:ext cx="4572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93A3B5"/>
                </a:solidFill>
                <a:latin typeface="Consolas"/>
              </a:rPr>
              <a:t>WHAT THE MODEL SEES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194560" y="2926080"/>
            <a:ext cx="914400" cy="2011680"/>
          </a:xfrm>
          <a:prstGeom prst="roundRect">
            <a:avLst>
              <a:gd name="adj" fmla="val 6000"/>
            </a:avLst>
          </a:prstGeom>
          <a:solidFill>
            <a:srgbClr val="4154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2834640" y="2651760"/>
            <a:ext cx="1005840" cy="2286000"/>
          </a:xfrm>
          <a:prstGeom prst="roundRect">
            <a:avLst>
              <a:gd name="adj" fmla="val 6000"/>
            </a:avLst>
          </a:prstGeom>
          <a:solidFill>
            <a:srgbClr val="4154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3566160" y="3108960"/>
            <a:ext cx="868680" cy="1828800"/>
          </a:xfrm>
          <a:prstGeom prst="roundRect">
            <a:avLst>
              <a:gd name="adj" fmla="val 6000"/>
            </a:avLst>
          </a:prstGeom>
          <a:solidFill>
            <a:srgbClr val="4154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5212080"/>
            <a:ext cx="48463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0">
                <a:solidFill>
                  <a:srgbClr val="93A3B5"/>
                </a:solidFill>
                <a:latin typeface="Segoe UI"/>
              </a:rPr>
              <a:t>three people · one fused mass · one depth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92240" y="2286000"/>
            <a:ext cx="4846320" cy="3657600"/>
          </a:xfrm>
          <a:prstGeom prst="roundRect">
            <a:avLst>
              <a:gd name="adj" fmla="val 6000"/>
            </a:avLst>
          </a:prstGeom>
          <a:solidFill>
            <a:srgbClr val="182230"/>
          </a:solidFill>
          <a:ln w="19050">
            <a:solidFill>
              <a:srgbClr val="F5B63F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300"/>
              </a:spcBef>
            </a:pPr>
            <a:r>
              <a:rPr sz="1100" b="1">
                <a:solidFill>
                  <a:srgbClr val="F5B63F"/>
                </a:solidFill>
                <a:latin typeface="Consolas"/>
              </a:rPr>
              <a:t>V2 · VIDEO</a:t>
            </a:r>
          </a:p>
          <a:p>
            <a:pPr algn="ctr">
              <a:spcBef>
                <a:spcPts val="300"/>
              </a:spcBef>
            </a:pPr>
            <a:r>
              <a:rPr sz="1250" b="0">
                <a:solidFill>
                  <a:srgbClr val="E9EDF3"/>
                </a:solidFill>
                <a:latin typeface="Segoe UI"/>
              </a:rPr>
              <a:t>Foundation-model depth failing on a real group clip -- people merging as they pass</a:t>
            </a:r>
          </a:p>
          <a:p>
            <a:pPr algn="ctr">
              <a:spcBef>
                <a:spcPts val="300"/>
              </a:spcBef>
            </a:pPr>
            <a:r>
              <a:rPr sz="1000" b="0">
                <a:solidFill>
                  <a:srgbClr val="5C6B7E"/>
                </a:solidFill>
                <a:latin typeface="Consolas"/>
              </a:rPr>
              <a:t>~620x460 · scripts/infer_video.py --compare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64008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F5B63F"/>
                </a:solidFill>
                <a:latin typeface="Consolas"/>
              </a:rPr>
              <a:t>WHY IT'S HARD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051560"/>
            <a:ext cx="105156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400" b="1">
                <a:solidFill>
                  <a:srgbClr val="E9EDF3"/>
                </a:solidFill>
                <a:latin typeface="Segoe UI"/>
              </a:rPr>
              <a:t>Occlusion destroys the evidence.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2377440"/>
            <a:ext cx="3429000" cy="3383280"/>
          </a:xfrm>
          <a:prstGeom prst="roundRect">
            <a:avLst>
              <a:gd name="adj" fmla="val 6000"/>
            </a:avLst>
          </a:prstGeom>
          <a:solidFill>
            <a:srgbClr val="131A23"/>
          </a:solidFill>
          <a:ln w="12700">
            <a:solidFill>
              <a:srgbClr val="2A35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051560" y="2651760"/>
            <a:ext cx="457200" cy="457200"/>
          </a:xfrm>
          <a:prstGeom prst="roundRect">
            <a:avLst>
              <a:gd name="adj" fmla="val 6000"/>
            </a:avLst>
          </a:prstGeom>
          <a:solidFill>
            <a:srgbClr val="1FA4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" y="3383280"/>
            <a:ext cx="2971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>
                <a:solidFill>
                  <a:srgbClr val="E9EDF3"/>
                </a:solidFill>
                <a:latin typeface="Segoe UI"/>
              </a:rPr>
              <a:t>Hidden parts have no pixels.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4663440"/>
            <a:ext cx="2971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93A3B5"/>
                </a:solidFill>
                <a:latin typeface="Segoe UI"/>
              </a:rPr>
              <a:t>the person behind simply isn't imaged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07992" y="2377440"/>
            <a:ext cx="3429000" cy="3383280"/>
          </a:xfrm>
          <a:prstGeom prst="roundRect">
            <a:avLst>
              <a:gd name="adj" fmla="val 6000"/>
            </a:avLst>
          </a:prstGeom>
          <a:solidFill>
            <a:srgbClr val="131A23"/>
          </a:solidFill>
          <a:ln w="12700">
            <a:solidFill>
              <a:srgbClr val="2A35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4736592" y="2651760"/>
            <a:ext cx="457200" cy="457200"/>
          </a:xfrm>
          <a:prstGeom prst="roundRect">
            <a:avLst>
              <a:gd name="adj" fmla="val 6000"/>
            </a:avLst>
          </a:prstGeom>
          <a:solidFill>
            <a:srgbClr val="3E6F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736592" y="3383280"/>
            <a:ext cx="2971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>
                <a:solidFill>
                  <a:srgbClr val="E9EDF3"/>
                </a:solidFill>
                <a:latin typeface="Segoe UI"/>
              </a:rPr>
              <a:t>The wrong depth gets borrowed.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36592" y="4663440"/>
            <a:ext cx="2971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93A3B5"/>
                </a:solidFill>
                <a:latin typeface="Segoe UI"/>
              </a:rPr>
              <a:t>the hidden body inherits the occluder's depth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93024" y="2377440"/>
            <a:ext cx="3429000" cy="3383280"/>
          </a:xfrm>
          <a:prstGeom prst="roundRect">
            <a:avLst>
              <a:gd name="adj" fmla="val 6000"/>
            </a:avLst>
          </a:prstGeom>
          <a:solidFill>
            <a:srgbClr val="131A23"/>
          </a:solidFill>
          <a:ln w="12700">
            <a:solidFill>
              <a:srgbClr val="2A35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8421624" y="2651760"/>
            <a:ext cx="457200" cy="457200"/>
          </a:xfrm>
          <a:prstGeom prst="roundRect">
            <a:avLst>
              <a:gd name="adj" fmla="val 6000"/>
            </a:avLst>
          </a:prstGeom>
          <a:solidFill>
            <a:srgbClr val="B07D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21624" y="3383280"/>
            <a:ext cx="2971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>
                <a:solidFill>
                  <a:srgbClr val="E9EDF3"/>
                </a:solidFill>
                <a:latin typeface="Segoe UI"/>
              </a:rPr>
              <a:t>The answer shimmers frame to frame.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21624" y="4663440"/>
            <a:ext cx="2971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93A3B5"/>
                </a:solidFill>
                <a:latin typeface="Segoe UI"/>
              </a:rPr>
              <a:t>each frame decides slightly differently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64008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F5B63F"/>
                </a:solidFill>
                <a:latin typeface="Consolas"/>
              </a:rPr>
              <a:t>THE GOAL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051560"/>
            <a:ext cx="100584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400" b="1">
                <a:solidFill>
                  <a:srgbClr val="E9EDF3"/>
                </a:solidFill>
                <a:latin typeface="Segoe UI"/>
              </a:rPr>
              <a:t>What success looks like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2651760"/>
            <a:ext cx="5029200" cy="1371600"/>
          </a:xfrm>
          <a:prstGeom prst="roundRect">
            <a:avLst>
              <a:gd name="adj" fmla="val 6000"/>
            </a:avLst>
          </a:prstGeom>
          <a:solidFill>
            <a:srgbClr val="131A23"/>
          </a:solidFill>
          <a:ln w="12700">
            <a:solidFill>
              <a:srgbClr val="2A35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143000" y="3191256"/>
            <a:ext cx="292608" cy="292608"/>
          </a:xfrm>
          <a:prstGeom prst="roundRect">
            <a:avLst>
              <a:gd name="adj" fmla="val 6000"/>
            </a:avLst>
          </a:prstGeom>
          <a:solidFill>
            <a:srgbClr val="3E6F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737360" y="2651760"/>
            <a:ext cx="3931920" cy="137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300" b="1">
                <a:solidFill>
                  <a:srgbClr val="E9EDF3"/>
                </a:solidFill>
                <a:latin typeface="Segoe UI"/>
              </a:rPr>
              <a:t>Depth for each person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2651760"/>
            <a:ext cx="5029200" cy="1371600"/>
          </a:xfrm>
          <a:prstGeom prst="roundRect">
            <a:avLst>
              <a:gd name="adj" fmla="val 6000"/>
            </a:avLst>
          </a:prstGeom>
          <a:solidFill>
            <a:srgbClr val="131A23"/>
          </a:solidFill>
          <a:ln w="12700">
            <a:solidFill>
              <a:srgbClr val="2A35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537960" y="3191256"/>
            <a:ext cx="292608" cy="292608"/>
          </a:xfrm>
          <a:prstGeom prst="roundRect">
            <a:avLst>
              <a:gd name="adj" fmla="val 6000"/>
            </a:avLst>
          </a:prstGeom>
          <a:solidFill>
            <a:srgbClr val="1FA4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132320" y="2651760"/>
            <a:ext cx="3931920" cy="137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300" b="1">
                <a:solidFill>
                  <a:srgbClr val="E9EDF3"/>
                </a:solidFill>
                <a:latin typeface="Segoe UI"/>
              </a:rPr>
              <a:t>Correct through overlaps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4389120"/>
            <a:ext cx="5029200" cy="1371600"/>
          </a:xfrm>
          <a:prstGeom prst="roundRect">
            <a:avLst>
              <a:gd name="adj" fmla="val 6000"/>
            </a:avLst>
          </a:prstGeom>
          <a:solidFill>
            <a:srgbClr val="131A23"/>
          </a:solidFill>
          <a:ln w="12700">
            <a:solidFill>
              <a:srgbClr val="2A35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143000" y="4928616"/>
            <a:ext cx="292608" cy="292608"/>
          </a:xfrm>
          <a:prstGeom prst="roundRect">
            <a:avLst>
              <a:gd name="adj" fmla="val 6000"/>
            </a:avLst>
          </a:prstGeom>
          <a:solidFill>
            <a:srgbClr val="B07D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737360" y="4389120"/>
            <a:ext cx="3931920" cy="137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300" b="1">
                <a:solidFill>
                  <a:srgbClr val="E9EDF3"/>
                </a:solidFill>
                <a:latin typeface="Segoe UI"/>
              </a:rPr>
              <a:t>Steady across frames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4389120"/>
            <a:ext cx="5029200" cy="1371600"/>
          </a:xfrm>
          <a:prstGeom prst="roundRect">
            <a:avLst>
              <a:gd name="adj" fmla="val 6000"/>
            </a:avLst>
          </a:prstGeom>
          <a:solidFill>
            <a:srgbClr val="131A23"/>
          </a:solidFill>
          <a:ln w="12700">
            <a:solidFill>
              <a:srgbClr val="2A35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537960" y="4928616"/>
            <a:ext cx="292608" cy="292608"/>
          </a:xfrm>
          <a:prstGeom prst="roundRect">
            <a:avLst>
              <a:gd name="adj" fmla="val 6000"/>
            </a:avLst>
          </a:prstGeom>
          <a:solidFill>
            <a:srgbClr val="F283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132320" y="4389120"/>
            <a:ext cx="3931920" cy="137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300" b="1">
                <a:solidFill>
                  <a:srgbClr val="E9EDF3"/>
                </a:solidFill>
                <a:latin typeface="Segoe UI"/>
              </a:rPr>
              <a:t>In real metres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64008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F5B63F"/>
                </a:solidFill>
                <a:latin typeface="Consolas"/>
              </a:rPr>
              <a:t>THE FOUNDATION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051560"/>
            <a:ext cx="109728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400" b="1">
                <a:solidFill>
                  <a:srgbClr val="E9EDF3"/>
                </a:solidFill>
                <a:latin typeface="Segoe UI"/>
              </a:rPr>
              <a:t>There was no dataset. So we built one.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286000"/>
            <a:ext cx="23774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93A3B5"/>
                </a:solidFill>
                <a:latin typeface="Consolas"/>
              </a:rPr>
              <a:t>ALL WE HAD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2651760"/>
            <a:ext cx="2377440" cy="1097280"/>
          </a:xfrm>
          <a:prstGeom prst="roundRect">
            <a:avLst>
              <a:gd name="adj" fmla="val 6000"/>
            </a:avLst>
          </a:prstGeom>
          <a:solidFill>
            <a:srgbClr val="131A23"/>
          </a:solidFill>
          <a:ln w="12700">
            <a:solidFill>
              <a:srgbClr val="2A35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32688" y="2651760"/>
            <a:ext cx="2157984" cy="10972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800" b="0">
                <a:solidFill>
                  <a:srgbClr val="E9EDF3"/>
                </a:solidFill>
                <a:latin typeface="Segoe UI"/>
              </a:rPr>
              <a:t>RGB frames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3931920"/>
            <a:ext cx="2377440" cy="1097280"/>
          </a:xfrm>
          <a:prstGeom prst="roundRect">
            <a:avLst>
              <a:gd name="adj" fmla="val 6000"/>
            </a:avLst>
          </a:prstGeom>
          <a:solidFill>
            <a:srgbClr val="131A23"/>
          </a:solidFill>
          <a:ln w="12700">
            <a:solidFill>
              <a:srgbClr val="2A35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32688" y="3931920"/>
            <a:ext cx="2157984" cy="10972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800" b="0">
                <a:solidFill>
                  <a:srgbClr val="E9EDF3"/>
                </a:solidFill>
                <a:latin typeface="Segoe UI"/>
              </a:rPr>
              <a:t>depth maps (raw)</a:t>
            </a:r>
          </a:p>
        </p:txBody>
      </p:sp>
      <p:sp>
        <p:nvSpPr>
          <p:cNvPr id="9" name="Right Arrow 8"/>
          <p:cNvSpPr/>
          <p:nvPr/>
        </p:nvSpPr>
        <p:spPr>
          <a:xfrm>
            <a:off x="3383280" y="3200400"/>
            <a:ext cx="640080" cy="219456"/>
          </a:xfrm>
          <a:prstGeom prst="rightArrow">
            <a:avLst/>
          </a:prstGeom>
          <a:solidFill>
            <a:srgbClr val="5C6B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297680" y="2606040"/>
            <a:ext cx="4114800" cy="713232"/>
          </a:xfrm>
          <a:prstGeom prst="roundRect">
            <a:avLst>
              <a:gd name="adj" fmla="val 6000"/>
            </a:avLst>
          </a:prstGeom>
          <a:solidFill>
            <a:srgbClr val="131A23"/>
          </a:solidFill>
          <a:ln w="19050">
            <a:solidFill>
              <a:srgbClr val="1FA49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480560" y="2852928"/>
            <a:ext cx="219456" cy="219456"/>
          </a:xfrm>
          <a:prstGeom prst="roundRect">
            <a:avLst>
              <a:gd name="adj" fmla="val 6000"/>
            </a:avLst>
          </a:prstGeom>
          <a:solidFill>
            <a:srgbClr val="1FA4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846320" y="2606040"/>
            <a:ext cx="338328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600" b="0">
                <a:solidFill>
                  <a:srgbClr val="E9EDF3"/>
                </a:solidFill>
                <a:latin typeface="Segoe UI"/>
              </a:rPr>
              <a:t>Segment every person  →  masks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297680" y="3447288"/>
            <a:ext cx="4114800" cy="713232"/>
          </a:xfrm>
          <a:prstGeom prst="roundRect">
            <a:avLst>
              <a:gd name="adj" fmla="val 6000"/>
            </a:avLst>
          </a:prstGeom>
          <a:solidFill>
            <a:srgbClr val="131A23"/>
          </a:solidFill>
          <a:ln w="19050">
            <a:solidFill>
              <a:srgbClr val="3E6F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480560" y="3694176"/>
            <a:ext cx="219456" cy="219456"/>
          </a:xfrm>
          <a:prstGeom prst="roundRect">
            <a:avLst>
              <a:gd name="adj" fmla="val 6000"/>
            </a:avLst>
          </a:prstGeom>
          <a:solidFill>
            <a:srgbClr val="3E6F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846320" y="3447288"/>
            <a:ext cx="338328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600" b="0">
                <a:solidFill>
                  <a:srgbClr val="E9EDF3"/>
                </a:solidFill>
                <a:latin typeface="Segoe UI"/>
              </a:rPr>
              <a:t>Stable identity across the video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297680" y="4288536"/>
            <a:ext cx="4114800" cy="713232"/>
          </a:xfrm>
          <a:prstGeom prst="roundRect">
            <a:avLst>
              <a:gd name="adj" fmla="val 6000"/>
            </a:avLst>
          </a:prstGeom>
          <a:solidFill>
            <a:srgbClr val="131A23"/>
          </a:solidFill>
          <a:ln w="19050">
            <a:solidFill>
              <a:srgbClr val="B07D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4480560" y="4535424"/>
            <a:ext cx="219456" cy="219456"/>
          </a:xfrm>
          <a:prstGeom prst="roundRect">
            <a:avLst>
              <a:gd name="adj" fmla="val 6000"/>
            </a:avLst>
          </a:prstGeom>
          <a:solidFill>
            <a:srgbClr val="B07D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846320" y="4288536"/>
            <a:ext cx="338328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600" b="0">
                <a:solidFill>
                  <a:srgbClr val="E9EDF3"/>
                </a:solidFill>
                <a:latin typeface="Segoe UI"/>
              </a:rPr>
              <a:t>Per-person depth layer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297680" y="5129784"/>
            <a:ext cx="4114800" cy="713232"/>
          </a:xfrm>
          <a:prstGeom prst="roundRect">
            <a:avLst>
              <a:gd name="adj" fmla="val 6000"/>
            </a:avLst>
          </a:prstGeom>
          <a:solidFill>
            <a:srgbClr val="131A23"/>
          </a:solidFill>
          <a:ln w="19050">
            <a:solidFill>
              <a:srgbClr val="F2836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4480560" y="5376672"/>
            <a:ext cx="219456" cy="219456"/>
          </a:xfrm>
          <a:prstGeom prst="roundRect">
            <a:avLst>
              <a:gd name="adj" fmla="val 6000"/>
            </a:avLst>
          </a:prstGeom>
          <a:solidFill>
            <a:srgbClr val="F283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846320" y="5129784"/>
            <a:ext cx="338328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600" b="0">
                <a:solidFill>
                  <a:srgbClr val="E9EDF3"/>
                </a:solidFill>
                <a:latin typeface="Segoe UI"/>
              </a:rPr>
              <a:t>Who occludes whom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686800" y="2606040"/>
            <a:ext cx="2651760" cy="2743200"/>
          </a:xfrm>
          <a:prstGeom prst="roundRect">
            <a:avLst>
              <a:gd name="adj" fmla="val 6000"/>
            </a:avLst>
          </a:prstGeom>
          <a:solidFill>
            <a:srgbClr val="182230"/>
          </a:solidFill>
          <a:ln w="19050">
            <a:solidFill>
              <a:srgbClr val="F5B63F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300"/>
              </a:spcBef>
            </a:pPr>
            <a:r>
              <a:rPr sz="1100" b="1">
                <a:solidFill>
                  <a:srgbClr val="F5B63F"/>
                </a:solidFill>
                <a:latin typeface="Consolas"/>
              </a:rPr>
              <a:t>I5 · IMAGE</a:t>
            </a:r>
          </a:p>
          <a:p>
            <a:pPr algn="ctr">
              <a:spcBef>
                <a:spcPts val="300"/>
              </a:spcBef>
            </a:pPr>
            <a:r>
              <a:rPr sz="1250" b="0">
                <a:solidFill>
                  <a:srgbClr val="E9EDF3"/>
                </a:solidFill>
                <a:latin typeface="Segoe UI"/>
              </a:rPr>
              <a:t>One annotated frame: RGB → masks → IDs → depth layers</a:t>
            </a:r>
          </a:p>
          <a:p>
            <a:pPr algn="ctr">
              <a:spcBef>
                <a:spcPts val="300"/>
              </a:spcBef>
            </a:pPr>
            <a:r>
              <a:rPr sz="1000" b="0">
                <a:solidFill>
                  <a:srgbClr val="5C6B7E"/>
                </a:solidFill>
                <a:latin typeface="Consolas"/>
              </a:rPr>
              <a:t>~330x220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" y="6291072"/>
            <a:ext cx="1054577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0">
                <a:solidFill>
                  <a:srgbClr val="93A3B5"/>
                </a:solidFill>
                <a:latin typeface="Segoe UI"/>
              </a:rPr>
              <a:t>Pixels and depth in; a fully-annotated instance-depth video dataset out.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64008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F5B63F"/>
                </a:solidFill>
                <a:latin typeface="Consolas"/>
              </a:rPr>
              <a:t>OUR IDEA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051560"/>
            <a:ext cx="100584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400" b="1">
                <a:solidFill>
                  <a:srgbClr val="E9EDF3"/>
                </a:solidFill>
                <a:latin typeface="Segoe UI"/>
              </a:rPr>
              <a:t>Three passes over every frame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2926080"/>
            <a:ext cx="1371600" cy="1097280"/>
          </a:xfrm>
          <a:prstGeom prst="roundRect">
            <a:avLst>
              <a:gd name="adj" fmla="val 6000"/>
            </a:avLst>
          </a:prstGeom>
          <a:solidFill>
            <a:srgbClr val="131A23"/>
          </a:solidFill>
          <a:ln w="12700">
            <a:solidFill>
              <a:srgbClr val="2A35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32688" y="2926080"/>
            <a:ext cx="1152144" cy="10972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500" b="0">
                <a:solidFill>
                  <a:srgbClr val="E9EDF3"/>
                </a:solidFill>
                <a:latin typeface="Segoe UI"/>
              </a:rPr>
              <a:t>video frame</a:t>
            </a:r>
          </a:p>
        </p:txBody>
      </p:sp>
      <p:sp>
        <p:nvSpPr>
          <p:cNvPr id="6" name="Right Arrow 5"/>
          <p:cNvSpPr/>
          <p:nvPr/>
        </p:nvSpPr>
        <p:spPr>
          <a:xfrm>
            <a:off x="2286000" y="3364992"/>
            <a:ext cx="365760" cy="219456"/>
          </a:xfrm>
          <a:prstGeom prst="rightArrow">
            <a:avLst/>
          </a:prstGeom>
          <a:solidFill>
            <a:srgbClr val="5C6B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2834640" y="2468880"/>
            <a:ext cx="2606040" cy="1920240"/>
          </a:xfrm>
          <a:prstGeom prst="roundRect">
            <a:avLst>
              <a:gd name="adj" fmla="val 6000"/>
            </a:avLst>
          </a:prstGeom>
          <a:solidFill>
            <a:srgbClr val="131A23"/>
          </a:solidFill>
          <a:ln w="25400">
            <a:solidFill>
              <a:srgbClr val="3E6F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834640" y="2697480"/>
            <a:ext cx="26060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7DA3F2"/>
                </a:solidFill>
                <a:latin typeface="Consolas"/>
              </a:rPr>
              <a:t>PASS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834640" y="3154680"/>
            <a:ext cx="2606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900" b="1">
                <a:solidFill>
                  <a:srgbClr val="E9EDF3"/>
                </a:solidFill>
                <a:latin typeface="Segoe UI"/>
              </a:rPr>
              <a:t>Paint the scene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834640" y="3794760"/>
            <a:ext cx="2606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0">
                <a:solidFill>
                  <a:srgbClr val="93A3B5"/>
                </a:solidFill>
                <a:latin typeface="Segoe UI"/>
              </a:rPr>
              <a:t>depth everywhere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5486400" y="3364992"/>
            <a:ext cx="201168" cy="219456"/>
          </a:xfrm>
          <a:prstGeom prst="rightArrow">
            <a:avLst/>
          </a:prstGeom>
          <a:solidFill>
            <a:srgbClr val="5C6B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5715000" y="2468880"/>
            <a:ext cx="2606040" cy="1920240"/>
          </a:xfrm>
          <a:prstGeom prst="roundRect">
            <a:avLst>
              <a:gd name="adj" fmla="val 6000"/>
            </a:avLst>
          </a:prstGeom>
          <a:solidFill>
            <a:srgbClr val="131A23"/>
          </a:solidFill>
          <a:ln w="25400">
            <a:solidFill>
              <a:srgbClr val="1FA49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715000" y="2697480"/>
            <a:ext cx="26060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3ED2BC"/>
                </a:solidFill>
                <a:latin typeface="Consolas"/>
              </a:rPr>
              <a:t>PASS 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715000" y="3154680"/>
            <a:ext cx="2606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900" b="1">
                <a:solidFill>
                  <a:srgbClr val="E9EDF3"/>
                </a:solidFill>
                <a:latin typeface="Segoe UI"/>
              </a:rPr>
              <a:t>Find each person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715000" y="3794760"/>
            <a:ext cx="2606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0">
                <a:solidFill>
                  <a:srgbClr val="93A3B5"/>
                </a:solidFill>
                <a:latin typeface="Segoe UI"/>
              </a:rPr>
              <a:t>mask + depth layer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8366760" y="3364992"/>
            <a:ext cx="201168" cy="219456"/>
          </a:xfrm>
          <a:prstGeom prst="rightArrow">
            <a:avLst/>
          </a:prstGeom>
          <a:solidFill>
            <a:srgbClr val="5C6B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595360" y="2468880"/>
            <a:ext cx="2606040" cy="1920240"/>
          </a:xfrm>
          <a:prstGeom prst="roundRect">
            <a:avLst>
              <a:gd name="adj" fmla="val 6000"/>
            </a:avLst>
          </a:prstGeom>
          <a:solidFill>
            <a:srgbClr val="131A23"/>
          </a:solidFill>
          <a:ln w="25400">
            <a:solidFill>
              <a:srgbClr val="B07D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595360" y="2697480"/>
            <a:ext cx="26060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F5B63F"/>
                </a:solidFill>
                <a:latin typeface="Consolas"/>
              </a:rPr>
              <a:t>PASS 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95360" y="3154680"/>
            <a:ext cx="2606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900" b="1">
                <a:solidFill>
                  <a:srgbClr val="E9EDF3"/>
                </a:solidFill>
                <a:latin typeface="Segoe UI"/>
              </a:rPr>
              <a:t>Fix the overlaps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95360" y="3794760"/>
            <a:ext cx="2606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0">
                <a:solidFill>
                  <a:srgbClr val="93A3B5"/>
                </a:solidFill>
                <a:latin typeface="Segoe UI"/>
              </a:rPr>
              <a:t>reason about pairs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834640" y="4892040"/>
            <a:ext cx="8366760" cy="566928"/>
          </a:xfrm>
          <a:prstGeom prst="roundRect">
            <a:avLst>
              <a:gd name="adj" fmla="val 6000"/>
            </a:avLst>
          </a:prstGeom>
          <a:solidFill>
            <a:srgbClr val="0B0F14"/>
          </a:solidFill>
          <a:ln w="25400">
            <a:solidFill>
              <a:srgbClr val="F2836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834640" y="4892040"/>
            <a:ext cx="836676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F2836C"/>
                </a:solidFill>
                <a:latin typeface="Segoe UI"/>
              </a:rPr>
              <a:t>+ ours: memory -- keeps each person across frames (feeds the next frame's Pass 1)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" y="6291072"/>
            <a:ext cx="1054577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0">
                <a:solidFill>
                  <a:srgbClr val="93A3B5"/>
                </a:solidFill>
                <a:latin typeface="Segoe UI"/>
              </a:rPr>
              <a:t>Following the ICCV 2025 recipe -- then extending it where video demands more.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64008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7DA3F2"/>
                </a:solidFill>
                <a:latin typeface="Consolas"/>
              </a:rPr>
              <a:t>PASS 1 · SCENE DEPTH + MEMORY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051560"/>
            <a:ext cx="109728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400" b="1">
                <a:solidFill>
                  <a:srgbClr val="E9EDF3"/>
                </a:solidFill>
                <a:latin typeface="Segoe UI"/>
              </a:rPr>
              <a:t>Adding memory made it sharper </a:t>
            </a:r>
            <a:r>
              <a:rPr sz="3400" b="1">
                <a:solidFill>
                  <a:srgbClr val="3ED2BC"/>
                </a:solidFill>
                <a:latin typeface="Segoe UI"/>
              </a:rPr>
              <a:t>and</a:t>
            </a:r>
            <a:r>
              <a:rPr sz="3400" b="1">
                <a:solidFill>
                  <a:srgbClr val="E9EDF3"/>
                </a:solidFill>
                <a:latin typeface="Segoe UI"/>
              </a:rPr>
              <a:t> steadier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2286000"/>
            <a:ext cx="5120640" cy="3566160"/>
          </a:xfrm>
          <a:prstGeom prst="roundRect">
            <a:avLst>
              <a:gd name="adj" fmla="val 6000"/>
            </a:avLst>
          </a:prstGeom>
          <a:solidFill>
            <a:srgbClr val="182230"/>
          </a:solidFill>
          <a:ln w="19050">
            <a:solidFill>
              <a:srgbClr val="F5B63F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300"/>
              </a:spcBef>
            </a:pPr>
            <a:r>
              <a:rPr sz="1100" b="1">
                <a:solidFill>
                  <a:srgbClr val="F5B63F"/>
                </a:solidFill>
                <a:latin typeface="Consolas"/>
              </a:rPr>
              <a:t>I2 · IMAGE STRIP</a:t>
            </a:r>
          </a:p>
          <a:p>
            <a:pPr algn="ctr">
              <a:spcBef>
                <a:spcPts val="300"/>
              </a:spcBef>
            </a:pPr>
            <a:r>
              <a:rPr sz="1250" b="0">
                <a:solidFill>
                  <a:srgbClr val="E9EDF3"/>
                </a:solidFill>
                <a:latin typeface="Segoe UI"/>
              </a:rPr>
              <a:t>Two scenes × ( RGB | ground truth | our depth )</a:t>
            </a:r>
          </a:p>
          <a:p>
            <a:pPr algn="ctr">
              <a:spcBef>
                <a:spcPts val="300"/>
              </a:spcBef>
            </a:pPr>
            <a:r>
              <a:rPr sz="1000" b="0">
                <a:solidFill>
                  <a:srgbClr val="5C6B7E"/>
                </a:solidFill>
                <a:latin typeface="Consolas"/>
              </a:rPr>
              <a:t>~560x430 · scripts/visualize_hdi.py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0" y="2286000"/>
            <a:ext cx="4937760" cy="3566160"/>
          </a:xfrm>
          <a:prstGeom prst="roundRect">
            <a:avLst>
              <a:gd name="adj" fmla="val 6000"/>
            </a:avLst>
          </a:prstGeom>
          <a:solidFill>
            <a:srgbClr val="131A23"/>
          </a:solidFill>
          <a:ln w="12700">
            <a:solidFill>
              <a:srgbClr val="2A35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675120" y="2468880"/>
            <a:ext cx="4572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0">
                <a:solidFill>
                  <a:srgbClr val="93A3B5"/>
                </a:solidFill>
                <a:latin typeface="Consolas"/>
              </a:rPr>
              <a:t>FULL TEST SET (10,400 frames) · baseline → + memory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675120" y="3017520"/>
            <a:ext cx="43891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E9EDF3"/>
                </a:solidFill>
                <a:latin typeface="Segoe UI"/>
              </a:rPr>
              <a:t>Accuracy error (lower wins)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675120" y="3337560"/>
            <a:ext cx="1737360" cy="146304"/>
          </a:xfrm>
          <a:prstGeom prst="roundRect">
            <a:avLst>
              <a:gd name="adj" fmla="val 6000"/>
            </a:avLst>
          </a:prstGeom>
          <a:solidFill>
            <a:srgbClr val="3E6F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5360" y="3273552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93A3B5"/>
                </a:solidFill>
                <a:latin typeface="Consolas"/>
              </a:rPr>
              <a:t>0.078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235440" y="3337560"/>
            <a:ext cx="1603716" cy="146304"/>
          </a:xfrm>
          <a:prstGeom prst="roundRect">
            <a:avLst>
              <a:gd name="adj" fmla="val 6000"/>
            </a:avLst>
          </a:prstGeom>
          <a:solidFill>
            <a:srgbClr val="B07D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195560" y="3273552"/>
            <a:ext cx="1005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F5B63F"/>
                </a:solidFill>
                <a:latin typeface="Consolas"/>
              </a:rPr>
              <a:t>0.072 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75120" y="3931920"/>
            <a:ext cx="43891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E9EDF3"/>
                </a:solidFill>
                <a:latin typeface="Segoe UI"/>
              </a:rPr>
              <a:t>Flicker (lower = steadier)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675120" y="4251959"/>
            <a:ext cx="1737360" cy="146304"/>
          </a:xfrm>
          <a:prstGeom prst="roundRect">
            <a:avLst>
              <a:gd name="adj" fmla="val 6000"/>
            </a:avLst>
          </a:prstGeom>
          <a:solidFill>
            <a:srgbClr val="3E6F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595360" y="4187952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93A3B5"/>
                </a:solidFill>
                <a:latin typeface="Consolas"/>
              </a:rPr>
              <a:t>0.94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235440" y="4251959"/>
            <a:ext cx="1700394" cy="146304"/>
          </a:xfrm>
          <a:prstGeom prst="roundRect">
            <a:avLst>
              <a:gd name="adj" fmla="val 6000"/>
            </a:avLst>
          </a:prstGeom>
          <a:solidFill>
            <a:srgbClr val="B07D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195560" y="4187952"/>
            <a:ext cx="1005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F5B63F"/>
                </a:solidFill>
                <a:latin typeface="Consolas"/>
              </a:rPr>
              <a:t>0.92 ✓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75120" y="4846320"/>
            <a:ext cx="43891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E9EDF3"/>
                </a:solidFill>
                <a:latin typeface="Segoe UI"/>
              </a:rPr>
              <a:t>Accuracy (higher wins)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675120" y="5166359"/>
            <a:ext cx="1611983" cy="146304"/>
          </a:xfrm>
          <a:prstGeom prst="roundRect">
            <a:avLst>
              <a:gd name="adj" fmla="val 6000"/>
            </a:avLst>
          </a:prstGeom>
          <a:solidFill>
            <a:srgbClr val="3E6F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595360" y="5102352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93A3B5"/>
                </a:solidFill>
                <a:latin typeface="Consolas"/>
              </a:rPr>
              <a:t>93.8%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235440" y="5166359"/>
            <a:ext cx="1737360" cy="146304"/>
          </a:xfrm>
          <a:prstGeom prst="roundRect">
            <a:avLst>
              <a:gd name="adj" fmla="val 6000"/>
            </a:avLst>
          </a:prstGeom>
          <a:solidFill>
            <a:srgbClr val="B07D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195560" y="5102352"/>
            <a:ext cx="1005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F5B63F"/>
                </a:solidFill>
                <a:latin typeface="Consolas"/>
              </a:rPr>
              <a:t>94.1% ✓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75120" y="5532120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>
                <a:solidFill>
                  <a:srgbClr val="3ED2BC"/>
                </a:solidFill>
                <a:latin typeface="Segoe UI"/>
              </a:rPr>
              <a:t>every metric moved the right way -- at once ✓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" y="6291072"/>
            <a:ext cx="1054577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0">
                <a:solidFill>
                  <a:srgbClr val="93A3B5"/>
                </a:solidFill>
                <a:latin typeface="Segoe UI"/>
              </a:rPr>
              <a:t>Blue = scene model alone · amber = + the memory module (scene model frozen).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64008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3ED2BC"/>
                </a:solidFill>
                <a:latin typeface="Consolas"/>
              </a:rPr>
              <a:t>PASS 2 · FINDING &amp; FOLLOWING PEOPLE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051560"/>
            <a:ext cx="109728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400" b="1">
                <a:solidFill>
                  <a:srgbClr val="E9EDF3"/>
                </a:solidFill>
                <a:latin typeface="Segoe UI"/>
              </a:rPr>
              <a:t>It finds people -- and now </a:t>
            </a:r>
            <a:r>
              <a:rPr sz="3400" b="1">
                <a:solidFill>
                  <a:srgbClr val="3ED2BC"/>
                </a:solidFill>
                <a:latin typeface="Segoe UI"/>
              </a:rPr>
              <a:t>keeps</a:t>
            </a:r>
            <a:r>
              <a:rPr sz="3400" b="1">
                <a:solidFill>
                  <a:srgbClr val="E9EDF3"/>
                </a:solidFill>
                <a:latin typeface="Segoe UI"/>
              </a:rPr>
              <a:t> who they are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2286000"/>
            <a:ext cx="5120640" cy="3200400"/>
          </a:xfrm>
          <a:prstGeom prst="roundRect">
            <a:avLst>
              <a:gd name="adj" fmla="val 6000"/>
            </a:avLst>
          </a:prstGeom>
          <a:solidFill>
            <a:srgbClr val="182230"/>
          </a:solidFill>
          <a:ln w="19050">
            <a:solidFill>
              <a:srgbClr val="F5B63F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300"/>
              </a:spcBef>
            </a:pPr>
            <a:r>
              <a:rPr sz="1100" b="1">
                <a:solidFill>
                  <a:srgbClr val="F5B63F"/>
                </a:solidFill>
                <a:latin typeface="Consolas"/>
              </a:rPr>
              <a:t>V3a · VIDEO -- BEFORE</a:t>
            </a:r>
          </a:p>
          <a:p>
            <a:pPr algn="ctr">
              <a:spcBef>
                <a:spcPts val="300"/>
              </a:spcBef>
            </a:pPr>
            <a:r>
              <a:rPr sz="1250" b="0">
                <a:solidFill>
                  <a:srgbClr val="E9EDF3"/>
                </a:solidFill>
                <a:latin typeface="Segoe UI"/>
              </a:rPr>
              <a:t>Identity flicker: the same person strobing colours frame to frame</a:t>
            </a:r>
          </a:p>
          <a:p>
            <a:pPr algn="ctr">
              <a:spcBef>
                <a:spcPts val="300"/>
              </a:spcBef>
            </a:pPr>
            <a:r>
              <a:rPr sz="1000" b="0">
                <a:solidFill>
                  <a:srgbClr val="5C6B7E"/>
                </a:solidFill>
                <a:latin typeface="Consolas"/>
              </a:rPr>
              <a:t>~540x360 · make_sequence_videos.py (no tracker)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5577840"/>
            <a:ext cx="5120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F2836C"/>
                </a:solidFill>
                <a:latin typeface="Segoe UI"/>
              </a:rPr>
              <a:t>Before: new colour every frame.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0" y="2286000"/>
            <a:ext cx="4937760" cy="3200400"/>
          </a:xfrm>
          <a:prstGeom prst="roundRect">
            <a:avLst>
              <a:gd name="adj" fmla="val 6000"/>
            </a:avLst>
          </a:prstGeom>
          <a:solidFill>
            <a:srgbClr val="182230"/>
          </a:solidFill>
          <a:ln w="19050">
            <a:solidFill>
              <a:srgbClr val="3ED2BC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300"/>
              </a:spcBef>
            </a:pPr>
            <a:r>
              <a:rPr sz="1100" b="1">
                <a:solidFill>
                  <a:srgbClr val="F5B63F"/>
                </a:solidFill>
                <a:latin typeface="Consolas"/>
              </a:rPr>
              <a:t>V3b · VIDEO -- AFTER</a:t>
            </a:r>
          </a:p>
          <a:p>
            <a:pPr algn="ctr">
              <a:spcBef>
                <a:spcPts val="300"/>
              </a:spcBef>
            </a:pPr>
            <a:r>
              <a:rPr sz="1250" b="0">
                <a:solidFill>
                  <a:srgbClr val="E9EDF3"/>
                </a:solidFill>
                <a:latin typeface="Segoe UI"/>
              </a:rPr>
              <a:t>Same clip, identities locked: one person, one colour, start to finish</a:t>
            </a:r>
          </a:p>
          <a:p>
            <a:pPr algn="ctr">
              <a:spcBef>
                <a:spcPts val="300"/>
              </a:spcBef>
            </a:pPr>
            <a:r>
              <a:rPr sz="1000" b="0">
                <a:solidFill>
                  <a:srgbClr val="5C6B7E"/>
                </a:solidFill>
                <a:latin typeface="Consolas"/>
              </a:rPr>
              <a:t>~540x360 · infer_video.py --track-instances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5577840"/>
            <a:ext cx="4937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3ED2BC"/>
                </a:solidFill>
                <a:latin typeface="Segoe UI"/>
              </a:rPr>
              <a:t>After: one person, one colour. ✓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6291072"/>
            <a:ext cx="1054577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0">
                <a:solidFill>
                  <a:srgbClr val="93A3B5"/>
                </a:solidFill>
                <a:latin typeface="Segoe UI"/>
              </a:rPr>
              <a:t>Match people frame-to-frame by overlap, and hold identity through brief disappearances.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64008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F5B63F"/>
                </a:solidFill>
                <a:latin typeface="Consolas"/>
              </a:rPr>
              <a:t>PASS 3 · OCCLUSION-AWARE REFINEMENT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051560"/>
            <a:ext cx="109728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400" b="1">
                <a:solidFill>
                  <a:srgbClr val="E9EDF3"/>
                </a:solidFill>
                <a:latin typeface="Segoe UI"/>
              </a:rPr>
              <a:t>Better exactly </a:t>
            </a:r>
            <a:r>
              <a:rPr sz="3400" b="1">
                <a:solidFill>
                  <a:srgbClr val="F5B63F"/>
                </a:solidFill>
                <a:latin typeface="Segoe UI"/>
              </a:rPr>
              <a:t>where people overlap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2286000"/>
            <a:ext cx="5669280" cy="3657600"/>
          </a:xfrm>
          <a:prstGeom prst="roundRect">
            <a:avLst>
              <a:gd name="adj" fmla="val 6000"/>
            </a:avLst>
          </a:prstGeom>
          <a:solidFill>
            <a:srgbClr val="131A23"/>
          </a:solidFill>
          <a:ln w="12700">
            <a:solidFill>
              <a:srgbClr val="2A35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2468880"/>
            <a:ext cx="5303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0">
                <a:solidFill>
                  <a:srgbClr val="93A3B5"/>
                </a:solidFill>
                <a:latin typeface="Consolas"/>
              </a:rPr>
              <a:t>OVERLAP REGIONS · 3,083 frames with real occlusion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880360"/>
            <a:ext cx="2651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>
                <a:solidFill>
                  <a:srgbClr val="E9EDF3"/>
                </a:solidFill>
                <a:latin typeface="Segoe UI"/>
              </a:rPr>
              <a:t>Depth error (lower wins)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3200400"/>
            <a:ext cx="512064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>
                <a:solidFill>
                  <a:srgbClr val="93A3B5"/>
                </a:solidFill>
                <a:latin typeface="Consolas"/>
              </a:rPr>
              <a:t>0.056</a:t>
            </a:r>
            <a:r>
              <a:rPr sz="1800" b="0">
                <a:solidFill>
                  <a:srgbClr val="5C6B7E"/>
                </a:solidFill>
                <a:latin typeface="Segoe UI"/>
              </a:rPr>
              <a:t>  →  </a:t>
            </a:r>
            <a:r>
              <a:rPr sz="2600" b="1">
                <a:solidFill>
                  <a:srgbClr val="3ED2BC"/>
                </a:solidFill>
                <a:latin typeface="Consolas"/>
              </a:rPr>
              <a:t>0.055 ✓</a:t>
            </a:r>
            <a:r>
              <a:rPr sz="1250" b="0">
                <a:solidFill>
                  <a:srgbClr val="93A3B5"/>
                </a:solidFill>
                <a:latin typeface="Segoe UI"/>
              </a:rPr>
              <a:t>   base → refined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3886200"/>
            <a:ext cx="5120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>
                <a:solidFill>
                  <a:srgbClr val="E9EDF3"/>
                </a:solidFill>
                <a:latin typeface="Segoe UI"/>
              </a:rPr>
              <a:t>Accuracy in overlap regions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4206240"/>
            <a:ext cx="5120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>
                <a:solidFill>
                  <a:srgbClr val="3ED2BC"/>
                </a:solidFill>
                <a:latin typeface="Consolas"/>
              </a:rPr>
              <a:t>98.6%</a:t>
            </a:r>
            <a:r>
              <a:rPr sz="1250" b="0">
                <a:solidFill>
                  <a:srgbClr val="93A3B5"/>
                </a:solidFill>
                <a:latin typeface="Segoe UI"/>
              </a:rPr>
              <a:t>  of overlap pixels within the tight band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97280" y="4892040"/>
            <a:ext cx="5120640" cy="18288"/>
          </a:xfrm>
          <a:prstGeom prst="roundRect">
            <a:avLst>
              <a:gd name="adj" fmla="val 6000"/>
            </a:avLst>
          </a:prstGeom>
          <a:solidFill>
            <a:srgbClr val="2A35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5029200"/>
            <a:ext cx="5303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1">
                <a:solidFill>
                  <a:srgbClr val="F5B63F"/>
                </a:solidFill>
                <a:latin typeface="Segoe UI"/>
              </a:rPr>
              <a:t>Safe by design:  </a:t>
            </a:r>
            <a:r>
              <a:rPr sz="1350" b="0">
                <a:solidFill>
                  <a:srgbClr val="E9EDF3"/>
                </a:solidFill>
                <a:latin typeface="Segoe UI"/>
              </a:rPr>
              <a:t>scene model frozen · corrections capped ±15%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5394960"/>
            <a:ext cx="53035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93A3B5"/>
                </a:solidFill>
                <a:latin typeface="Segoe UI"/>
              </a:rPr>
              <a:t>refinement can only act on people -- the rest of the scene is untouched, guaranteed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0" y="2286000"/>
            <a:ext cx="4480560" cy="3657600"/>
          </a:xfrm>
          <a:prstGeom prst="roundRect">
            <a:avLst>
              <a:gd name="adj" fmla="val 6000"/>
            </a:avLst>
          </a:prstGeom>
          <a:solidFill>
            <a:srgbClr val="182230"/>
          </a:solidFill>
          <a:ln w="19050">
            <a:solidFill>
              <a:srgbClr val="F5B63F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300"/>
              </a:spcBef>
            </a:pPr>
            <a:r>
              <a:rPr sz="1100" b="1">
                <a:solidFill>
                  <a:srgbClr val="F5B63F"/>
                </a:solidFill>
                <a:latin typeface="Consolas"/>
              </a:rPr>
              <a:t>V4 · VIDEO / TOGGLE</a:t>
            </a:r>
          </a:p>
          <a:p>
            <a:pPr algn="ctr">
              <a:spcBef>
                <a:spcPts val="300"/>
              </a:spcBef>
            </a:pPr>
            <a:r>
              <a:rPr sz="1250" b="0">
                <a:solidFill>
                  <a:srgbClr val="E9EDF3"/>
                </a:solidFill>
                <a:latin typeface="Segoe UI"/>
              </a:rPr>
              <a:t>Refined vs base, side by side, on a real overlap -- crisp person boundaries in depth</a:t>
            </a:r>
          </a:p>
          <a:p>
            <a:pPr algn="ctr">
              <a:spcBef>
                <a:spcPts val="300"/>
              </a:spcBef>
            </a:pPr>
            <a:r>
              <a:rPr sz="1000" b="0">
                <a:solidFill>
                  <a:srgbClr val="5C6B7E"/>
                </a:solidFill>
                <a:latin typeface="Consolas"/>
              </a:rPr>
              <a:t>~520x430 · infer_video.py --compare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64008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F5B63F"/>
                </a:solidFill>
                <a:latin typeface="Consolas"/>
              </a:rPr>
              <a:t>RESULTS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051560"/>
            <a:ext cx="100584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400" b="1">
                <a:solidFill>
                  <a:srgbClr val="E9EDF3"/>
                </a:solidFill>
                <a:latin typeface="Segoe UI"/>
              </a:rPr>
              <a:t>The numbers, all on one card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2286000"/>
            <a:ext cx="3429000" cy="3566160"/>
          </a:xfrm>
          <a:prstGeom prst="roundRect">
            <a:avLst>
              <a:gd name="adj" fmla="val 6000"/>
            </a:avLst>
          </a:prstGeom>
          <a:solidFill>
            <a:srgbClr val="131A23"/>
          </a:solidFill>
          <a:ln w="25400">
            <a:solidFill>
              <a:srgbClr val="3E6F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2514600"/>
            <a:ext cx="3429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7DA3F2"/>
                </a:solidFill>
                <a:latin typeface="Consolas"/>
              </a:rPr>
              <a:t>SCENE DEPTH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017520"/>
            <a:ext cx="3429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600" b="1">
                <a:solidFill>
                  <a:srgbClr val="E9EDF3"/>
                </a:solidFill>
                <a:latin typeface="Consolas"/>
              </a:rPr>
              <a:t>0.072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474720"/>
            <a:ext cx="3429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50" b="0">
                <a:solidFill>
                  <a:srgbClr val="93A3B5"/>
                </a:solidFill>
                <a:latin typeface="Segoe UI"/>
              </a:rPr>
              <a:t>depth error (rel)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931920"/>
            <a:ext cx="3429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600" b="1">
                <a:solidFill>
                  <a:srgbClr val="E9EDF3"/>
                </a:solidFill>
                <a:latin typeface="Consolas"/>
              </a:rPr>
              <a:t>94.1%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4389120"/>
            <a:ext cx="3429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50" b="0">
                <a:solidFill>
                  <a:srgbClr val="93A3B5"/>
                </a:solidFill>
                <a:latin typeface="Segoe UI"/>
              </a:rPr>
              <a:t>accuracy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4846320"/>
            <a:ext cx="3429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600" b="1">
                <a:solidFill>
                  <a:srgbClr val="E9EDF3"/>
                </a:solidFill>
                <a:latin typeface="Consolas"/>
              </a:rPr>
              <a:t>-8%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5303520"/>
            <a:ext cx="3429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50" b="0">
                <a:solidFill>
                  <a:srgbClr val="93A3B5"/>
                </a:solidFill>
                <a:latin typeface="Segoe UI"/>
              </a:rPr>
              <a:t>flicker vs per-frame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07992" y="2286000"/>
            <a:ext cx="3429000" cy="3566160"/>
          </a:xfrm>
          <a:prstGeom prst="roundRect">
            <a:avLst>
              <a:gd name="adj" fmla="val 6000"/>
            </a:avLst>
          </a:prstGeom>
          <a:solidFill>
            <a:srgbClr val="131A23"/>
          </a:solidFill>
          <a:ln w="25400">
            <a:solidFill>
              <a:srgbClr val="1FA49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07992" y="2514600"/>
            <a:ext cx="3429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3ED2BC"/>
                </a:solidFill>
                <a:latin typeface="Consolas"/>
              </a:rPr>
              <a:t>PEOPLE &amp; IDENTITY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07992" y="3017520"/>
            <a:ext cx="3429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600" b="1">
                <a:solidFill>
                  <a:srgbClr val="E9EDF3"/>
                </a:solidFill>
                <a:latin typeface="Consolas"/>
              </a:rPr>
              <a:t>1 : 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07992" y="3474720"/>
            <a:ext cx="3429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50" b="0">
                <a:solidFill>
                  <a:srgbClr val="93A3B5"/>
                </a:solidFill>
                <a:latin typeface="Segoe UI"/>
              </a:rPr>
              <a:t>one colour per person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07992" y="3931920"/>
            <a:ext cx="3429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600" b="1">
                <a:solidFill>
                  <a:srgbClr val="E9EDF3"/>
                </a:solidFill>
                <a:latin typeface="Consolas"/>
              </a:rPr>
              <a:t>full video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07992" y="4389120"/>
            <a:ext cx="3429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50" b="0">
                <a:solidFill>
                  <a:srgbClr val="93A3B5"/>
                </a:solidFill>
                <a:latin typeface="Segoe UI"/>
              </a:rPr>
              <a:t>identity held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07992" y="4846320"/>
            <a:ext cx="3429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600" b="1">
                <a:solidFill>
                  <a:srgbClr val="E9EDF3"/>
                </a:solidFill>
                <a:latin typeface="Consolas"/>
              </a:rPr>
              <a:t>through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07992" y="5303520"/>
            <a:ext cx="3429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50" b="0">
                <a:solidFill>
                  <a:srgbClr val="93A3B5"/>
                </a:solidFill>
                <a:latin typeface="Segoe UI"/>
              </a:rPr>
              <a:t>occlusions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193024" y="2286000"/>
            <a:ext cx="3429000" cy="3566160"/>
          </a:xfrm>
          <a:prstGeom prst="roundRect">
            <a:avLst>
              <a:gd name="adj" fmla="val 6000"/>
            </a:avLst>
          </a:prstGeom>
          <a:solidFill>
            <a:srgbClr val="131A23"/>
          </a:solidFill>
          <a:ln w="25400">
            <a:solidFill>
              <a:srgbClr val="B07D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193024" y="2514600"/>
            <a:ext cx="3429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F5B63F"/>
                </a:solidFill>
                <a:latin typeface="Consolas"/>
              </a:rPr>
              <a:t>OVERLAP REGIONS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193024" y="3017520"/>
            <a:ext cx="3429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600" b="1">
                <a:solidFill>
                  <a:srgbClr val="E9EDF3"/>
                </a:solidFill>
                <a:latin typeface="Consolas"/>
              </a:rPr>
              <a:t>0.055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193024" y="3474720"/>
            <a:ext cx="3429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50" b="0">
                <a:solidFill>
                  <a:srgbClr val="93A3B5"/>
                </a:solidFill>
                <a:latin typeface="Segoe UI"/>
              </a:rPr>
              <a:t>depth error (rel)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193024" y="3931920"/>
            <a:ext cx="3429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600" b="1">
                <a:solidFill>
                  <a:srgbClr val="E9EDF3"/>
                </a:solidFill>
                <a:latin typeface="Consolas"/>
              </a:rPr>
              <a:t>98.6%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193024" y="4389120"/>
            <a:ext cx="3429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50" b="0">
                <a:solidFill>
                  <a:srgbClr val="93A3B5"/>
                </a:solidFill>
                <a:latin typeface="Segoe UI"/>
              </a:rPr>
              <a:t>accuracy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193024" y="4846320"/>
            <a:ext cx="3429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600" b="1">
                <a:solidFill>
                  <a:srgbClr val="E9EDF3"/>
                </a:solidFill>
                <a:latin typeface="Consolas"/>
              </a:rPr>
              <a:t>±15%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193024" y="5303520"/>
            <a:ext cx="3429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50" b="0">
                <a:solidFill>
                  <a:srgbClr val="93A3B5"/>
                </a:solidFill>
                <a:latin typeface="Segoe UI"/>
              </a:rPr>
              <a:t>corrections, capped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2960" y="6291072"/>
            <a:ext cx="1054577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0">
                <a:solidFill>
                  <a:srgbClr val="93A3B5"/>
                </a:solidFill>
                <a:latin typeface="Segoe UI"/>
              </a:rPr>
              <a:t>Full held-out test set · 10,400 frames · 3,083 with real person-on-person overlap.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64008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F5B63F"/>
                </a:solidFill>
                <a:latin typeface="Consolas"/>
              </a:rPr>
              <a:t>BEYOND THE PAPER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051560"/>
            <a:ext cx="109728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400" b="1">
                <a:solidFill>
                  <a:srgbClr val="E9EDF3"/>
                </a:solidFill>
                <a:latin typeface="Segoe UI"/>
              </a:rPr>
              <a:t>What this project adds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2377440"/>
            <a:ext cx="5029200" cy="1600200"/>
          </a:xfrm>
          <a:prstGeom prst="roundRect">
            <a:avLst>
              <a:gd name="adj" fmla="val 6000"/>
            </a:avLst>
          </a:prstGeom>
          <a:solidFill>
            <a:srgbClr val="131A23"/>
          </a:solidFill>
          <a:ln w="22225">
            <a:solidFill>
              <a:srgbClr val="1FA49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2606040"/>
            <a:ext cx="4389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>
                <a:solidFill>
                  <a:srgbClr val="E9EDF3"/>
                </a:solidFill>
                <a:latin typeface="Segoe UI"/>
              </a:rPr>
              <a:t>A dataset that didn't exist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3246120"/>
            <a:ext cx="43891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>
                <a:solidFill>
                  <a:srgbClr val="93A3B5"/>
                </a:solidFill>
                <a:latin typeface="Segoe UI"/>
              </a:rPr>
              <a:t>full instance-depth ground truth, hand-built from raw RGB + depth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2377440"/>
            <a:ext cx="5029200" cy="1600200"/>
          </a:xfrm>
          <a:prstGeom prst="roundRect">
            <a:avLst>
              <a:gd name="adj" fmla="val 6000"/>
            </a:avLst>
          </a:prstGeom>
          <a:solidFill>
            <a:srgbClr val="131A23"/>
          </a:solidFill>
          <a:ln w="22225">
            <a:solidFill>
              <a:srgbClr val="3E6F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37960" y="2606040"/>
            <a:ext cx="4389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>
                <a:solidFill>
                  <a:srgbClr val="E9EDF3"/>
                </a:solidFill>
                <a:latin typeface="Segoe UI"/>
              </a:rPr>
              <a:t>Video-native depth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37960" y="3246120"/>
            <a:ext cx="43891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>
                <a:solidFill>
                  <a:srgbClr val="93A3B5"/>
                </a:solidFill>
                <a:latin typeface="Segoe UI"/>
              </a:rPr>
              <a:t>temporal memory + a flicker-aware loss -- the paper is single-frame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4297680"/>
            <a:ext cx="5029200" cy="1600200"/>
          </a:xfrm>
          <a:prstGeom prst="roundRect">
            <a:avLst>
              <a:gd name="adj" fmla="val 6000"/>
            </a:avLst>
          </a:prstGeom>
          <a:solidFill>
            <a:srgbClr val="131A23"/>
          </a:solidFill>
          <a:ln w="22225">
            <a:solidFill>
              <a:srgbClr val="B07D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43000" y="4526280"/>
            <a:ext cx="4389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>
                <a:solidFill>
                  <a:srgbClr val="E9EDF3"/>
                </a:solidFill>
                <a:latin typeface="Segoe UI"/>
              </a:rPr>
              <a:t>Identities that persist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43000" y="5166360"/>
            <a:ext cx="43891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>
                <a:solidFill>
                  <a:srgbClr val="93A3B5"/>
                </a:solidFill>
                <a:latin typeface="Segoe UI"/>
              </a:rPr>
              <a:t>one person, one identity, held through occlusions -- not re-found each frame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4297680"/>
            <a:ext cx="5029200" cy="1600200"/>
          </a:xfrm>
          <a:prstGeom prst="roundRect">
            <a:avLst>
              <a:gd name="adj" fmla="val 6000"/>
            </a:avLst>
          </a:prstGeom>
          <a:solidFill>
            <a:srgbClr val="131A23"/>
          </a:solidFill>
          <a:ln w="22225">
            <a:solidFill>
              <a:srgbClr val="F2836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37960" y="4526280"/>
            <a:ext cx="4389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>
                <a:solidFill>
                  <a:srgbClr val="E9EDF3"/>
                </a:solidFill>
                <a:latin typeface="Segoe UI"/>
              </a:rPr>
              <a:t>Refinement, safe by construction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37960" y="5166360"/>
            <a:ext cx="43891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>
                <a:solidFill>
                  <a:srgbClr val="93A3B5"/>
                </a:solidFill>
                <a:latin typeface="Segoe UI"/>
              </a:rPr>
              <a:t>frozen scene + capped corrections: it can help, it cannot harm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64008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F5B63F"/>
                </a:solidFill>
                <a:latin typeface="Consolas"/>
              </a:rPr>
              <a:t>DEMO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051560"/>
            <a:ext cx="109728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400" b="1">
                <a:solidFill>
                  <a:srgbClr val="E9EDF3"/>
                </a:solidFill>
                <a:latin typeface="Segoe UI"/>
              </a:rPr>
              <a:t>All of it, in one clip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2194560"/>
            <a:ext cx="10545775" cy="3383280"/>
          </a:xfrm>
          <a:prstGeom prst="roundRect">
            <a:avLst>
              <a:gd name="adj" fmla="val 6000"/>
            </a:avLst>
          </a:prstGeom>
          <a:solidFill>
            <a:srgbClr val="182230"/>
          </a:solidFill>
          <a:ln w="19050">
            <a:solidFill>
              <a:srgbClr val="F5B63F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300"/>
              </a:spcBef>
            </a:pPr>
            <a:r>
              <a:rPr sz="1100" b="1">
                <a:solidFill>
                  <a:srgbClr val="F5B63F"/>
                </a:solidFill>
                <a:latin typeface="Consolas"/>
              </a:rPr>
              <a:t>V5 · VIDEO -- THE DEMO</a:t>
            </a:r>
          </a:p>
          <a:p>
            <a:pPr algn="ctr">
              <a:spcBef>
                <a:spcPts val="300"/>
              </a:spcBef>
            </a:pPr>
            <a:r>
              <a:rPr sz="1250" b="0">
                <a:solidFill>
                  <a:srgbClr val="E9EDF3"/>
                </a:solidFill>
                <a:latin typeface="Segoe UI"/>
              </a:rPr>
              <a:t>One person walks behind another -- same colour, same depth, steady scene</a:t>
            </a:r>
          </a:p>
          <a:p>
            <a:pPr algn="ctr">
              <a:spcBef>
                <a:spcPts val="300"/>
              </a:spcBef>
            </a:pPr>
            <a:r>
              <a:rPr sz="1000" b="0">
                <a:solidFill>
                  <a:srgbClr val="5C6B7E"/>
                </a:solidFill>
                <a:latin typeface="Consolas"/>
              </a:rPr>
              <a:t>~1128x380 · make_sequence_videos.py --track-instances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5715000"/>
            <a:ext cx="1054577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0">
                <a:solidFill>
                  <a:srgbClr val="93A3B5"/>
                </a:solidFill>
                <a:latin typeface="Segoe UI"/>
              </a:rPr>
              <a:t>RGB  |  depth  |  instances -- every person keeps their colour and their metres.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64008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F5B63F"/>
                </a:solidFill>
                <a:latin typeface="Consolas"/>
              </a:rPr>
              <a:t>NEXT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051560"/>
            <a:ext cx="100584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400" b="1">
                <a:solidFill>
                  <a:srgbClr val="E9EDF3"/>
                </a:solidFill>
                <a:latin typeface="Segoe UI"/>
              </a:rPr>
              <a:t>Three moves ahead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2651760"/>
            <a:ext cx="3291840" cy="1737360"/>
          </a:xfrm>
          <a:prstGeom prst="roundRect">
            <a:avLst>
              <a:gd name="adj" fmla="val 6000"/>
            </a:avLst>
          </a:prstGeom>
          <a:solidFill>
            <a:srgbClr val="131A23"/>
          </a:solidFill>
          <a:ln w="25400">
            <a:solidFill>
              <a:srgbClr val="3E6F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2971800"/>
            <a:ext cx="32918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000" b="1">
                <a:solidFill>
                  <a:srgbClr val="E9EDF3"/>
                </a:solidFill>
                <a:latin typeface="Segoe UI"/>
              </a:rPr>
              <a:t>Stronger prior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611880"/>
            <a:ext cx="32918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50" b="0">
                <a:solidFill>
                  <a:srgbClr val="93A3B5"/>
                </a:solidFill>
                <a:latin typeface="Segoe UI"/>
              </a:rPr>
              <a:t>full pretrained depth model -- already running</a:t>
            </a:r>
          </a:p>
        </p:txBody>
      </p:sp>
      <p:sp>
        <p:nvSpPr>
          <p:cNvPr id="7" name="Right Arrow 6"/>
          <p:cNvSpPr/>
          <p:nvPr/>
        </p:nvSpPr>
        <p:spPr>
          <a:xfrm>
            <a:off x="4187952" y="3401568"/>
            <a:ext cx="320040" cy="219456"/>
          </a:xfrm>
          <a:prstGeom prst="rightArrow">
            <a:avLst/>
          </a:prstGeom>
          <a:solidFill>
            <a:srgbClr val="5C6B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617720" y="2651760"/>
            <a:ext cx="3291840" cy="1737360"/>
          </a:xfrm>
          <a:prstGeom prst="roundRect">
            <a:avLst>
              <a:gd name="adj" fmla="val 6000"/>
            </a:avLst>
          </a:prstGeom>
          <a:solidFill>
            <a:srgbClr val="131A23"/>
          </a:solidFill>
          <a:ln w="25400">
            <a:solidFill>
              <a:srgbClr val="1FA49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17720" y="2971800"/>
            <a:ext cx="32918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000" b="1">
                <a:solidFill>
                  <a:srgbClr val="E9EDF3"/>
                </a:solidFill>
                <a:latin typeface="Segoe UI"/>
              </a:rPr>
              <a:t>Beyond our lab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17720" y="3611880"/>
            <a:ext cx="32918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50" b="0">
                <a:solidFill>
                  <a:srgbClr val="93A3B5"/>
                </a:solidFill>
                <a:latin typeface="Segoe UI"/>
              </a:rPr>
              <a:t>robust on footage from anywhere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7982712" y="3401568"/>
            <a:ext cx="320040" cy="219456"/>
          </a:xfrm>
          <a:prstGeom prst="rightArrow">
            <a:avLst/>
          </a:prstGeom>
          <a:solidFill>
            <a:srgbClr val="5C6B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8412480" y="2651760"/>
            <a:ext cx="3291840" cy="1737360"/>
          </a:xfrm>
          <a:prstGeom prst="roundRect">
            <a:avLst>
              <a:gd name="adj" fmla="val 6000"/>
            </a:avLst>
          </a:prstGeom>
          <a:solidFill>
            <a:srgbClr val="131A23"/>
          </a:solidFill>
          <a:ln w="25400">
            <a:solidFill>
              <a:srgbClr val="B07D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12480" y="2971800"/>
            <a:ext cx="32918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000" b="1">
                <a:solidFill>
                  <a:srgbClr val="E9EDF3"/>
                </a:solidFill>
                <a:latin typeface="Segoe UI"/>
              </a:rPr>
              <a:t>The write-up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12480" y="3611880"/>
            <a:ext cx="32918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50" b="0">
                <a:solidFill>
                  <a:srgbClr val="93A3B5"/>
                </a:solidFill>
                <a:latin typeface="Segoe UI"/>
              </a:rPr>
              <a:t>dataset + method + results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64008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F5B63F"/>
                </a:solidFill>
                <a:latin typeface="Consolas"/>
              </a:rPr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051560"/>
            <a:ext cx="109728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400" b="1">
                <a:solidFill>
                  <a:srgbClr val="E9EDF3"/>
                </a:solidFill>
                <a:latin typeface="Segoe UI"/>
              </a:rPr>
              <a:t>The four promises -- delivered.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2514600"/>
            <a:ext cx="5029200" cy="1463040"/>
          </a:xfrm>
          <a:prstGeom prst="roundRect">
            <a:avLst>
              <a:gd name="adj" fmla="val 6000"/>
            </a:avLst>
          </a:prstGeom>
          <a:solidFill>
            <a:srgbClr val="131A23"/>
          </a:solidFill>
          <a:ln w="22225">
            <a:solidFill>
              <a:srgbClr val="3E6F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143000" y="2898648"/>
            <a:ext cx="292608" cy="292608"/>
          </a:xfrm>
          <a:prstGeom prst="roundRect">
            <a:avLst>
              <a:gd name="adj" fmla="val 6000"/>
            </a:avLst>
          </a:prstGeom>
          <a:solidFill>
            <a:srgbClr val="3E6F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737360" y="2715768"/>
            <a:ext cx="374903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900" b="1">
                <a:solidFill>
                  <a:srgbClr val="E9EDF3"/>
                </a:solidFill>
                <a:latin typeface="Segoe UI"/>
              </a:rPr>
              <a:t>Depth for each person  </a:t>
            </a:r>
            <a:r>
              <a:rPr sz="1900" b="1">
                <a:solidFill>
                  <a:srgbClr val="3ED2BC"/>
                </a:solidFill>
                <a:latin typeface="Segoe UI"/>
              </a:rPr>
              <a:t>✓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737360" y="3291840"/>
            <a:ext cx="374903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93A3B5"/>
                </a:solidFill>
                <a:latin typeface="Segoe UI"/>
              </a:rPr>
              <a:t>per-person depth layers, every frame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2514600"/>
            <a:ext cx="5029200" cy="1463040"/>
          </a:xfrm>
          <a:prstGeom prst="roundRect">
            <a:avLst>
              <a:gd name="adj" fmla="val 6000"/>
            </a:avLst>
          </a:prstGeom>
          <a:solidFill>
            <a:srgbClr val="131A23"/>
          </a:solidFill>
          <a:ln w="22225">
            <a:solidFill>
              <a:srgbClr val="1FA49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537960" y="2898648"/>
            <a:ext cx="292608" cy="292608"/>
          </a:xfrm>
          <a:prstGeom prst="roundRect">
            <a:avLst>
              <a:gd name="adj" fmla="val 6000"/>
            </a:avLst>
          </a:prstGeom>
          <a:solidFill>
            <a:srgbClr val="1FA4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132320" y="2715768"/>
            <a:ext cx="374903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900" b="1">
                <a:solidFill>
                  <a:srgbClr val="E9EDF3"/>
                </a:solidFill>
                <a:latin typeface="Segoe UI"/>
              </a:rPr>
              <a:t>Correct through overlaps  </a:t>
            </a:r>
            <a:r>
              <a:rPr sz="1900" b="1">
                <a:solidFill>
                  <a:srgbClr val="3ED2BC"/>
                </a:solidFill>
                <a:latin typeface="Segoe UI"/>
              </a:rPr>
              <a:t>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32320" y="3291840"/>
            <a:ext cx="374903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93A3B5"/>
                </a:solidFill>
                <a:latin typeface="Segoe UI"/>
              </a:rPr>
              <a:t>0.055 error where bodies cross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" y="4343400"/>
            <a:ext cx="5029200" cy="1463040"/>
          </a:xfrm>
          <a:prstGeom prst="roundRect">
            <a:avLst>
              <a:gd name="adj" fmla="val 6000"/>
            </a:avLst>
          </a:prstGeom>
          <a:solidFill>
            <a:srgbClr val="131A23"/>
          </a:solidFill>
          <a:ln w="22225">
            <a:solidFill>
              <a:srgbClr val="B07D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143000" y="4727448"/>
            <a:ext cx="292608" cy="292608"/>
          </a:xfrm>
          <a:prstGeom prst="roundRect">
            <a:avLst>
              <a:gd name="adj" fmla="val 6000"/>
            </a:avLst>
          </a:prstGeom>
          <a:solidFill>
            <a:srgbClr val="B07D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737360" y="4544568"/>
            <a:ext cx="374903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900" b="1">
                <a:solidFill>
                  <a:srgbClr val="E9EDF3"/>
                </a:solidFill>
                <a:latin typeface="Segoe UI"/>
              </a:rPr>
              <a:t>Steady across frames  </a:t>
            </a:r>
            <a:r>
              <a:rPr sz="1900" b="1">
                <a:solidFill>
                  <a:srgbClr val="3ED2BC"/>
                </a:solidFill>
                <a:latin typeface="Segoe UI"/>
              </a:rP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737360" y="5120640"/>
            <a:ext cx="374903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93A3B5"/>
                </a:solidFill>
                <a:latin typeface="Segoe UI"/>
              </a:rPr>
              <a:t>flicker down · identities locked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17920" y="4343400"/>
            <a:ext cx="5029200" cy="1463040"/>
          </a:xfrm>
          <a:prstGeom prst="roundRect">
            <a:avLst>
              <a:gd name="adj" fmla="val 6000"/>
            </a:avLst>
          </a:prstGeom>
          <a:solidFill>
            <a:srgbClr val="131A23"/>
          </a:solidFill>
          <a:ln w="22225">
            <a:solidFill>
              <a:srgbClr val="F2836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537960" y="4727448"/>
            <a:ext cx="292608" cy="292608"/>
          </a:xfrm>
          <a:prstGeom prst="roundRect">
            <a:avLst>
              <a:gd name="adj" fmla="val 6000"/>
            </a:avLst>
          </a:prstGeom>
          <a:solidFill>
            <a:srgbClr val="F283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132320" y="4544568"/>
            <a:ext cx="374903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900" b="1">
                <a:solidFill>
                  <a:srgbClr val="E9EDF3"/>
                </a:solidFill>
                <a:latin typeface="Segoe UI"/>
              </a:rPr>
              <a:t>In real metres  </a:t>
            </a:r>
            <a:r>
              <a:rPr sz="1900" b="1">
                <a:solidFill>
                  <a:srgbClr val="3ED2BC"/>
                </a:solidFill>
                <a:latin typeface="Segoe UI"/>
              </a:rPr>
              <a:t>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132320" y="5120640"/>
            <a:ext cx="374903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93A3B5"/>
                </a:solidFill>
                <a:latin typeface="Segoe UI"/>
              </a:rPr>
              <a:t>0.072 rel. error on 10,400 frames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6309360"/>
            <a:ext cx="12191695" cy="548640"/>
          </a:xfrm>
          <a:prstGeom prst="roundRect">
            <a:avLst>
              <a:gd name="adj" fmla="val 6000"/>
            </a:avLst>
          </a:prstGeom>
          <a:solidFill>
            <a:srgbClr val="B07D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0" y="6080760"/>
            <a:ext cx="12191695" cy="256032"/>
          </a:xfrm>
          <a:prstGeom prst="roundRect">
            <a:avLst>
              <a:gd name="adj" fmla="val 6000"/>
            </a:avLst>
          </a:prstGeom>
          <a:solidFill>
            <a:srgbClr val="1FA4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0" y="5897880"/>
            <a:ext cx="12191695" cy="182880"/>
          </a:xfrm>
          <a:prstGeom prst="roundRect">
            <a:avLst>
              <a:gd name="adj" fmla="val 6000"/>
            </a:avLst>
          </a:prstGeom>
          <a:solidFill>
            <a:srgbClr val="3E6F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2194560"/>
            <a:ext cx="82296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000" b="1">
                <a:solidFill>
                  <a:srgbClr val="E9EDF3"/>
                </a:solidFill>
                <a:latin typeface="Segoe UI"/>
              </a:rPr>
              <a:t>Thank you.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657600"/>
            <a:ext cx="73152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0">
                <a:solidFill>
                  <a:srgbClr val="93A3B5"/>
                </a:solidFill>
                <a:latin typeface="Segoe UI"/>
              </a:rPr>
              <a:t>Questions -- happy to go deeper on any pass, or the dataset.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457200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C6B7E"/>
                </a:solidFill>
                <a:latin typeface="Consolas"/>
              </a:rPr>
              <a:t>github.com/KSJanjua/ProCodes · videodepth/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509760" y="2194560"/>
            <a:ext cx="1828800" cy="1828800"/>
          </a:xfrm>
          <a:prstGeom prst="roundRect">
            <a:avLst>
              <a:gd name="adj" fmla="val 6000"/>
            </a:avLst>
          </a:prstGeom>
          <a:solidFill>
            <a:srgbClr val="182230"/>
          </a:solidFill>
          <a:ln w="19050">
            <a:solidFill>
              <a:srgbClr val="F5B63F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300"/>
              </a:spcBef>
            </a:pPr>
            <a:r>
              <a:rPr sz="1100" b="1">
                <a:solidFill>
                  <a:srgbClr val="F5B63F"/>
                </a:solidFill>
                <a:latin typeface="Consolas"/>
              </a:rPr>
              <a:t>QR1</a:t>
            </a:r>
          </a:p>
          <a:p>
            <a:pPr algn="ctr">
              <a:spcBef>
                <a:spcPts val="300"/>
              </a:spcBef>
            </a:pPr>
            <a:r>
              <a:rPr sz="1250" b="0">
                <a:solidFill>
                  <a:srgbClr val="E9EDF3"/>
                </a:solidFill>
                <a:latin typeface="Segoe UI"/>
              </a:rPr>
              <a:t>QR → repo</a:t>
            </a:r>
          </a:p>
          <a:p>
            <a:pPr algn="ctr">
              <a:spcBef>
                <a:spcPts val="300"/>
              </a:spcBef>
            </a:pPr>
            <a:r>
              <a:rPr sz="1000" b="0">
                <a:solidFill>
                  <a:srgbClr val="5C6B7E"/>
                </a:solidFill>
                <a:latin typeface="Consolas"/>
              </a:rPr>
              <a:t>200x200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486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5C6B7E"/>
                </a:solidFill>
                <a:latin typeface="Consolas"/>
              </a:rPr>
              <a:t>BACKUP · NOT PART OF THE TALK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914400"/>
            <a:ext cx="109728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>
                <a:solidFill>
                  <a:srgbClr val="E9EDF3"/>
                </a:solidFill>
                <a:latin typeface="Segoe UI"/>
              </a:rPr>
              <a:t>Editor's manifest -- media to drop in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822960" y="1737360"/>
          <a:ext cx="10543032" cy="4480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4400"/>
                <a:gridCol w="3017520"/>
                <a:gridCol w="1463040"/>
                <a:gridCol w="5148072"/>
              </a:tblGrid>
              <a:tr h="49784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5B63F"/>
                          </a:solidFill>
                          <a:latin typeface="Consolas"/>
                        </a:rPr>
                        <a:t>ID</a:t>
                      </a:r>
                    </a:p>
                  </a:txBody>
                  <a:tcPr marL="91440" marT="27432" marB="27432" anchor="ctr">
                    <a:solidFill>
                      <a:srgbClr val="18223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5B63F"/>
                          </a:solidFill>
                          <a:latin typeface="Consolas"/>
                        </a:rPr>
                        <a:t>Slide · position</a:t>
                      </a:r>
                    </a:p>
                  </a:txBody>
                  <a:tcPr marL="91440" marT="27432" marB="27432" anchor="ctr">
                    <a:solidFill>
                      <a:srgbClr val="18223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5B63F"/>
                          </a:solidFill>
                          <a:latin typeface="Consolas"/>
                        </a:rPr>
                        <a:t>Size</a:t>
                      </a:r>
                    </a:p>
                  </a:txBody>
                  <a:tcPr marL="91440" marT="27432" marB="27432" anchor="ctr">
                    <a:solidFill>
                      <a:srgbClr val="18223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5B63F"/>
                          </a:solidFill>
                          <a:latin typeface="Consolas"/>
                        </a:rPr>
                        <a:t>Produce with</a:t>
                      </a:r>
                    </a:p>
                  </a:txBody>
                  <a:tcPr marL="91440" marT="27432" marB="27432" anchor="ctr">
                    <a:solidFill>
                      <a:srgbClr val="182230"/>
                    </a:solidFill>
                  </a:tcPr>
                </a:tc>
              </a:tr>
              <a:tr h="49784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E9EDF3"/>
                          </a:solidFill>
                          <a:latin typeface="Consolas"/>
                        </a:rPr>
                        <a:t>V2</a:t>
                      </a:r>
                    </a:p>
                  </a:txBody>
                  <a:tcPr marL="91440" marT="27432" marB="27432" anchor="ctr">
                    <a:solidFill>
                      <a:srgbClr val="131A2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93A3B5"/>
                          </a:solidFill>
                          <a:latin typeface="Consolas"/>
                        </a:rPr>
                        <a:t>S2 · right half</a:t>
                      </a:r>
                    </a:p>
                  </a:txBody>
                  <a:tcPr marL="91440" marT="27432" marB="27432" anchor="ctr">
                    <a:solidFill>
                      <a:srgbClr val="131A2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93A3B5"/>
                          </a:solidFill>
                          <a:latin typeface="Consolas"/>
                        </a:rPr>
                        <a:t>620x460</a:t>
                      </a:r>
                    </a:p>
                  </a:txBody>
                  <a:tcPr marL="91440" marT="27432" marB="27432" anchor="ctr">
                    <a:solidFill>
                      <a:srgbClr val="131A2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93A3B5"/>
                          </a:solidFill>
                          <a:latin typeface="Consolas"/>
                        </a:rPr>
                        <a:t>infer_video.py --compare (baseline failing)</a:t>
                      </a:r>
                    </a:p>
                  </a:txBody>
                  <a:tcPr marL="91440" marT="27432" marB="27432" anchor="ctr">
                    <a:solidFill>
                      <a:srgbClr val="131A23"/>
                    </a:solidFill>
                  </a:tcPr>
                </a:tc>
              </a:tr>
              <a:tr h="49784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E9EDF3"/>
                          </a:solidFill>
                          <a:latin typeface="Consolas"/>
                        </a:rPr>
                        <a:t>I5</a:t>
                      </a:r>
                    </a:p>
                  </a:txBody>
                  <a:tcPr marL="91440" marT="27432" marB="27432" anchor="ctr">
                    <a:solidFill>
                      <a:srgbClr val="131A2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93A3B5"/>
                          </a:solidFill>
                          <a:latin typeface="Consolas"/>
                        </a:rPr>
                        <a:t>S5 · right -- the dataset</a:t>
                      </a:r>
                    </a:p>
                  </a:txBody>
                  <a:tcPr marL="91440" marT="27432" marB="27432" anchor="ctr">
                    <a:solidFill>
                      <a:srgbClr val="131A2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93A3B5"/>
                          </a:solidFill>
                          <a:latin typeface="Consolas"/>
                        </a:rPr>
                        <a:t>330x220</a:t>
                      </a:r>
                    </a:p>
                  </a:txBody>
                  <a:tcPr marL="91440" marT="27432" marB="27432" anchor="ctr">
                    <a:solidFill>
                      <a:srgbClr val="131A2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93A3B5"/>
                          </a:solidFill>
                          <a:latin typeface="Consolas"/>
                        </a:rPr>
                        <a:t>one frame: RGB → masks → IDs → layers</a:t>
                      </a:r>
                    </a:p>
                  </a:txBody>
                  <a:tcPr marL="91440" marT="27432" marB="27432" anchor="ctr">
                    <a:solidFill>
                      <a:srgbClr val="131A23"/>
                    </a:solidFill>
                  </a:tcPr>
                </a:tc>
              </a:tr>
              <a:tr h="49784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E9EDF3"/>
                          </a:solidFill>
                          <a:latin typeface="Consolas"/>
                        </a:rPr>
                        <a:t>I2</a:t>
                      </a:r>
                    </a:p>
                  </a:txBody>
                  <a:tcPr marL="91440" marT="27432" marB="27432" anchor="ctr">
                    <a:solidFill>
                      <a:srgbClr val="131A2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93A3B5"/>
                          </a:solidFill>
                          <a:latin typeface="Consolas"/>
                        </a:rPr>
                        <a:t>S7 · left half</a:t>
                      </a:r>
                    </a:p>
                  </a:txBody>
                  <a:tcPr marL="91440" marT="27432" marB="27432" anchor="ctr">
                    <a:solidFill>
                      <a:srgbClr val="131A2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93A3B5"/>
                          </a:solidFill>
                          <a:latin typeface="Consolas"/>
                        </a:rPr>
                        <a:t>560x430</a:t>
                      </a:r>
                    </a:p>
                  </a:txBody>
                  <a:tcPr marL="91440" marT="27432" marB="27432" anchor="ctr">
                    <a:solidFill>
                      <a:srgbClr val="131A2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93A3B5"/>
                          </a:solidFill>
                          <a:latin typeface="Consolas"/>
                        </a:rPr>
                        <a:t>visualize_hdi.py, 2 scenes</a:t>
                      </a:r>
                    </a:p>
                  </a:txBody>
                  <a:tcPr marL="91440" marT="27432" marB="27432" anchor="ctr">
                    <a:solidFill>
                      <a:srgbClr val="131A23"/>
                    </a:solidFill>
                  </a:tcPr>
                </a:tc>
              </a:tr>
              <a:tr h="49784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E9EDF3"/>
                          </a:solidFill>
                          <a:latin typeface="Consolas"/>
                        </a:rPr>
                        <a:t>V3a</a:t>
                      </a:r>
                    </a:p>
                  </a:txBody>
                  <a:tcPr marL="91440" marT="27432" marB="27432" anchor="ctr">
                    <a:solidFill>
                      <a:srgbClr val="131A2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93A3B5"/>
                          </a:solidFill>
                          <a:latin typeface="Consolas"/>
                        </a:rPr>
                        <a:t>S8 · left -- BEFORE</a:t>
                      </a:r>
                    </a:p>
                  </a:txBody>
                  <a:tcPr marL="91440" marT="27432" marB="27432" anchor="ctr">
                    <a:solidFill>
                      <a:srgbClr val="131A2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93A3B5"/>
                          </a:solidFill>
                          <a:latin typeface="Consolas"/>
                        </a:rPr>
                        <a:t>540x360</a:t>
                      </a:r>
                    </a:p>
                  </a:txBody>
                  <a:tcPr marL="91440" marT="27432" marB="27432" anchor="ctr">
                    <a:solidFill>
                      <a:srgbClr val="131A2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93A3B5"/>
                          </a:solidFill>
                          <a:latin typeface="Consolas"/>
                        </a:rPr>
                        <a:t>make_sequence_videos.py (no tracker)</a:t>
                      </a:r>
                    </a:p>
                  </a:txBody>
                  <a:tcPr marL="91440" marT="27432" marB="27432" anchor="ctr">
                    <a:solidFill>
                      <a:srgbClr val="131A23"/>
                    </a:solidFill>
                  </a:tcPr>
                </a:tc>
              </a:tr>
              <a:tr h="49784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E9EDF3"/>
                          </a:solidFill>
                          <a:latin typeface="Consolas"/>
                        </a:rPr>
                        <a:t>V3b</a:t>
                      </a:r>
                    </a:p>
                  </a:txBody>
                  <a:tcPr marL="91440" marT="27432" marB="27432" anchor="ctr">
                    <a:solidFill>
                      <a:srgbClr val="131A2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93A3B5"/>
                          </a:solidFill>
                          <a:latin typeface="Consolas"/>
                        </a:rPr>
                        <a:t>S8 · right -- AFTER</a:t>
                      </a:r>
                    </a:p>
                  </a:txBody>
                  <a:tcPr marL="91440" marT="27432" marB="27432" anchor="ctr">
                    <a:solidFill>
                      <a:srgbClr val="131A2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93A3B5"/>
                          </a:solidFill>
                          <a:latin typeface="Consolas"/>
                        </a:rPr>
                        <a:t>540x360</a:t>
                      </a:r>
                    </a:p>
                  </a:txBody>
                  <a:tcPr marL="91440" marT="27432" marB="27432" anchor="ctr">
                    <a:solidFill>
                      <a:srgbClr val="131A2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93A3B5"/>
                          </a:solidFill>
                          <a:latin typeface="Consolas"/>
                        </a:rPr>
                        <a:t>infer_video.py --track-instances</a:t>
                      </a:r>
                    </a:p>
                  </a:txBody>
                  <a:tcPr marL="91440" marT="27432" marB="27432" anchor="ctr">
                    <a:solidFill>
                      <a:srgbClr val="131A23"/>
                    </a:solidFill>
                  </a:tcPr>
                </a:tc>
              </a:tr>
              <a:tr h="49784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E9EDF3"/>
                          </a:solidFill>
                          <a:latin typeface="Consolas"/>
                        </a:rPr>
                        <a:t>V4</a:t>
                      </a:r>
                    </a:p>
                  </a:txBody>
                  <a:tcPr marL="91440" marT="27432" marB="27432" anchor="ctr">
                    <a:solidFill>
                      <a:srgbClr val="131A2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93A3B5"/>
                          </a:solidFill>
                          <a:latin typeface="Consolas"/>
                        </a:rPr>
                        <a:t>S9 · right -- refined vs base</a:t>
                      </a:r>
                    </a:p>
                  </a:txBody>
                  <a:tcPr marL="91440" marT="27432" marB="27432" anchor="ctr">
                    <a:solidFill>
                      <a:srgbClr val="131A2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93A3B5"/>
                          </a:solidFill>
                          <a:latin typeface="Consolas"/>
                        </a:rPr>
                        <a:t>520x430</a:t>
                      </a:r>
                    </a:p>
                  </a:txBody>
                  <a:tcPr marL="91440" marT="27432" marB="27432" anchor="ctr">
                    <a:solidFill>
                      <a:srgbClr val="131A2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93A3B5"/>
                          </a:solidFill>
                          <a:latin typeface="Consolas"/>
                        </a:rPr>
                        <a:t>infer_video.py --compare on an overlap clip</a:t>
                      </a:r>
                    </a:p>
                  </a:txBody>
                  <a:tcPr marL="91440" marT="27432" marB="27432" anchor="ctr">
                    <a:solidFill>
                      <a:srgbClr val="131A23"/>
                    </a:solidFill>
                  </a:tcPr>
                </a:tc>
              </a:tr>
              <a:tr h="49784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E9EDF3"/>
                          </a:solidFill>
                          <a:latin typeface="Consolas"/>
                        </a:rPr>
                        <a:t>V5</a:t>
                      </a:r>
                    </a:p>
                  </a:txBody>
                  <a:tcPr marL="91440" marT="27432" marB="27432" anchor="ctr">
                    <a:solidFill>
                      <a:srgbClr val="131A2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93A3B5"/>
                          </a:solidFill>
                          <a:latin typeface="Consolas"/>
                        </a:rPr>
                        <a:t>S12 · main -- the demo</a:t>
                      </a:r>
                    </a:p>
                  </a:txBody>
                  <a:tcPr marL="91440" marT="27432" marB="27432" anchor="ctr">
                    <a:solidFill>
                      <a:srgbClr val="131A2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93A3B5"/>
                          </a:solidFill>
                          <a:latin typeface="Consolas"/>
                        </a:rPr>
                        <a:t>1128x380</a:t>
                      </a:r>
                    </a:p>
                  </a:txBody>
                  <a:tcPr marL="91440" marT="27432" marB="27432" anchor="ctr">
                    <a:solidFill>
                      <a:srgbClr val="131A2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93A3B5"/>
                          </a:solidFill>
                          <a:latin typeface="Consolas"/>
                        </a:rPr>
                        <a:t>make_sequence_videos.py --track-instances</a:t>
                      </a:r>
                    </a:p>
                  </a:txBody>
                  <a:tcPr marL="91440" marT="27432" marB="27432" anchor="ctr">
                    <a:solidFill>
                      <a:srgbClr val="131A23"/>
                    </a:solidFill>
                  </a:tcPr>
                </a:tc>
              </a:tr>
              <a:tr h="49784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E9EDF3"/>
                          </a:solidFill>
                          <a:latin typeface="Consolas"/>
                        </a:rPr>
                        <a:t>QR1</a:t>
                      </a:r>
                    </a:p>
                  </a:txBody>
                  <a:tcPr marL="91440" marT="27432" marB="27432" anchor="ctr">
                    <a:solidFill>
                      <a:srgbClr val="131A2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93A3B5"/>
                          </a:solidFill>
                          <a:latin typeface="Consolas"/>
                        </a:rPr>
                        <a:t>S15 · right</a:t>
                      </a:r>
                    </a:p>
                  </a:txBody>
                  <a:tcPr marL="91440" marT="27432" marB="27432" anchor="ctr">
                    <a:solidFill>
                      <a:srgbClr val="131A2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93A3B5"/>
                          </a:solidFill>
                          <a:latin typeface="Consolas"/>
                        </a:rPr>
                        <a:t>200x200</a:t>
                      </a:r>
                    </a:p>
                  </a:txBody>
                  <a:tcPr marL="91440" marT="27432" marB="27432" anchor="ctr">
                    <a:solidFill>
                      <a:srgbClr val="131A2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93A3B5"/>
                          </a:solidFill>
                          <a:latin typeface="Consolas"/>
                        </a:rPr>
                        <a:t>QR to repo</a:t>
                      </a:r>
                    </a:p>
                  </a:txBody>
                  <a:tcPr marL="91440" marT="27432" marB="27432" anchor="ctr">
                    <a:solidFill>
                      <a:srgbClr val="131A23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822960" y="6291072"/>
            <a:ext cx="1054577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0">
                <a:solidFill>
                  <a:srgbClr val="5C6B7E"/>
                </a:solidFill>
                <a:latin typeface="Segoe UI"/>
              </a:rPr>
              <a:t>Swap any video in as an inserted media clip. V3b and V5 MUST use --track-instances so colours stay locked.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