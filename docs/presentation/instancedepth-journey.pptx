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Set the scene, no tech. 'Tonight I want to tell you the story of teaching a camera to see every person in a crowd -- separately, correctly, and steadily over time.'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problem in one image. Left: today's best models fuse overlapping people into one blob at one depth. Right (V2): a real clip of a foundation model failing on a group. 'Everything great about modern depth estimation stops at the edge of a crowd.'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Three reasons this is genuinely hard. 1: the pixels you need are hidden. 2: a half-hidden person inherits the depth of whoever covers them. 3: video -- every frame answers slightly differently, so depth shimmers. 'The evidence is missing, borrowed, or unstable.'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What success looks like, in plain words. Four promises: depth for each person, correct even while overlapped, steady across the whole video, and in real metres -- not relative shades.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~35s -- The unglamorous truth, and a real contribution. There was no dataset for this. All we were handed was RGB frames and their raw depth maps -- no masks, no identities, no per-person depth. So we built the entire ground-truth stack ourselves: segment every person, give each a stable identity across the whole video, assign each their depth layer, and label who occludes whom. Everything after the arrow is 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~40s -- The whole idea in one picture, following the ICCV-2025 InstanceDepth recipe. Pass 1 paints the scene's depth. Pass 2 finds each person and their depth layer. Pass 3 looks at every overlapping pair and fixes the depths where they collide. Our addition wraps the whole thing in time: remember people between frames.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1 results, and the payoff of the temporal fix. Left: scenes come out sharp. Right, the real numbers on the full 10,400-frame test set: once we froze the scene model and added only the memory module, EVERY number improved at once -- more accurate AND steadier. This is the module that used to do nothing; now it earns its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~50s -- Pass 2. Masks are excellent on our data. The problem: the segmenter re-answers 'who is who' from scratch every frame, so the same person strobes colours. The fix: match each person to the previous frame by overlap, and hold identity even through a brief disappearance. Demo note: this is the --track-instances flag; always run the demo with it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~60s -- The plot twist and its resolution; slow down. Pass 3 exists to FIX occlusions. Our first version did the opposite -- whole-scene error nearly doubled (0.078 → 0.139), because it only graded itself on people-pixels and let the rest of the scene rot; and where people overlapped it made depth worse. The fix wasn't more training, it was LESS: freeze the scene model, and cap how far any single correction can push. Now: scene pinned (no drift), AND where people overlap error finally drops, 0.056 → 0.055. Harmful to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~40s -- The road, honestly. Five potholes: (1) our first temporal module trained for days and changed nothing -- nothing in the loss rewarded smoothness. (2) Our flicker metric was measuring sensor noise. (3) Depth halos. (4) A library update silently renamed weights. (5) A crash only on frames with nobody overlapping. Each is now a regression test.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~30s -- Four lessons, each earned by a scar. 1: our temporal module was silent because no loss asked it to do anything. 2: check what your metric CAN detect before optimizing it. 3: the pass-3 fix was freezing, not fine-tuning. 4: a 10-minute rehearsal run now catches crashes before days of GPU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~45s -- Where we are now. The three fixes on the left already landed and are in the numbers you saw: a loss that punishes flicker not motion, training on clips where movement happens, and capping each correction. Green ticks = done. The right panel is the one lever still in flight and it's the big one: today we reuse only the backbone of a strong pretrained depth model; borrowing the FULL model should close the last accuracy gap.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~25s -- Next three moves, in order: finish the strong-prior training runs; make identity persistent by propagating people through the video; prove everything beyond our own lab's recordings. Then write it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~20s -- Land the arc: we set out to reproduce a paper; we ended up diagnosing it, and the diagnosis became our contribution. Play V5 -- a person walks behind another and comes out the same colour AND the same depth. That clip is the whole project in five seconds.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~15s -- Thanks + where to look. QR to the repo. Offer the backup slide if anyone wants the media checklist.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Backup only -- not part of the 8 minutes. Every placeholder, where it goes, its size, and the exact repo command. The two demo clips (V3b, V5) MUST use --track-instances so identities don't flicker.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126480"/>
            <a:ext cx="12191695" cy="73152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5852160"/>
            <a:ext cx="12191695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623560"/>
            <a:ext cx="12191695" cy="20116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412480" y="4572000"/>
            <a:ext cx="731520" cy="15544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0" y="4114800"/>
            <a:ext cx="868680" cy="201168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966960" y="3474720"/>
            <a:ext cx="1005840" cy="265176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37160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A RESEARCH JOURNEY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8412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>
                <a:solidFill>
                  <a:srgbClr val="E9EDF3"/>
                </a:solidFill>
                <a:latin typeface="Segoe UI"/>
              </a:rPr>
              <a:t>Seeing every person's depth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200400"/>
            <a:ext cx="7680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93A3B5"/>
                </a:solidFill>
                <a:latin typeface="Segoe UI"/>
              </a:rPr>
              <a:t>Instance-level video depth in crowded scenes -- beyond occlusions.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21792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C6B7E"/>
                </a:solidFill>
                <a:latin typeface="Consolas"/>
              </a:rPr>
              <a:t>K. S. Janjua  ·  lab meeting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Cameras flatten crowds.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39496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WHAT THE MODEL SEES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2926080"/>
            <a:ext cx="914400" cy="2011680"/>
          </a:xfrm>
          <a:prstGeom prst="roundRect">
            <a:avLst>
              <a:gd name="adj" fmla="val 6000"/>
            </a:avLst>
          </a:prstGeom>
          <a:solidFill>
            <a:srgbClr val="415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2651760"/>
            <a:ext cx="1005840" cy="2286000"/>
          </a:xfrm>
          <a:prstGeom prst="roundRect">
            <a:avLst>
              <a:gd name="adj" fmla="val 6000"/>
            </a:avLst>
          </a:prstGeom>
          <a:solidFill>
            <a:srgbClr val="415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566160" y="3108960"/>
            <a:ext cx="868680" cy="1828800"/>
          </a:xfrm>
          <a:prstGeom prst="roundRect">
            <a:avLst>
              <a:gd name="adj" fmla="val 6000"/>
            </a:avLst>
          </a:prstGeom>
          <a:solidFill>
            <a:srgbClr val="4154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5212080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93A3B5"/>
                </a:solidFill>
                <a:latin typeface="Segoe UI"/>
              </a:rPr>
              <a:t>three people · one fused mass · one depth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92240" y="2286000"/>
            <a:ext cx="4846320" cy="3657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V2 · VIDEO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Foundation-model depth failing on a real group clip -- people merging as they pass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~620x460 · scripts/infer_video.py --compare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WHY IT'S HARD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Occlusion destroys the evidence.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51560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Hidden parts have no pixels.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the person behind simply isn't imaged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07992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736592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36592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The wrong depth gets borrowed.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36592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the hidden body inherits the occluder's depth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93024" y="2377440"/>
            <a:ext cx="3429000" cy="3383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421624" y="2651760"/>
            <a:ext cx="457200" cy="45720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21624" y="338328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E9EDF3"/>
                </a:solidFill>
                <a:latin typeface="Segoe UI"/>
              </a:rPr>
              <a:t>The answer shimmers frame to frame.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1624" y="4663440"/>
            <a:ext cx="2971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each frame decides slightly differently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GOAL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success looks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14300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73736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Depth for each person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65176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537960" y="319125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0" y="265176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Correct through overlaps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14300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73736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Steady across frames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89120"/>
            <a:ext cx="5029200" cy="1371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4928616"/>
            <a:ext cx="292608" cy="292608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32320" y="4389120"/>
            <a:ext cx="393192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300" b="1">
                <a:solidFill>
                  <a:srgbClr val="E9EDF3"/>
                </a:solidFill>
                <a:latin typeface="Segoe UI"/>
              </a:rPr>
              <a:t>In real metres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FOUNDATION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There was no dataset. So we built one.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2377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ALL WE HAD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65176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32688" y="265176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RGB frames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931920"/>
            <a:ext cx="237744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3931920"/>
            <a:ext cx="215798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0">
                <a:solidFill>
                  <a:srgbClr val="E9EDF3"/>
                </a:solidFill>
                <a:latin typeface="Segoe UI"/>
              </a:rPr>
              <a:t>depth maps (raw)</a:t>
            </a:r>
          </a:p>
        </p:txBody>
      </p:sp>
      <p:sp>
        <p:nvSpPr>
          <p:cNvPr id="9" name="Right Arrow 8"/>
          <p:cNvSpPr/>
          <p:nvPr/>
        </p:nvSpPr>
        <p:spPr>
          <a:xfrm>
            <a:off x="3383280" y="3200400"/>
            <a:ext cx="64008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297680" y="2606040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80560" y="2852928"/>
            <a:ext cx="219456" cy="219456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46320" y="2606040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Segment every person  →  masks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97680" y="3447288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80560" y="3694176"/>
            <a:ext cx="219456" cy="219456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46320" y="3447288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Stable identity across the video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4288536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80560" y="4535424"/>
            <a:ext cx="219456" cy="219456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0" y="4288536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Per-person depth layer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5129784"/>
            <a:ext cx="4114800" cy="713232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905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480560" y="5376672"/>
            <a:ext cx="219456" cy="219456"/>
          </a:xfrm>
          <a:prstGeom prst="roundRect">
            <a:avLst>
              <a:gd name="adj" fmla="val 6000"/>
            </a:avLst>
          </a:prstGeom>
          <a:solidFill>
            <a:srgbClr val="F283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846320" y="5129784"/>
            <a:ext cx="3383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0">
                <a:solidFill>
                  <a:srgbClr val="E9EDF3"/>
                </a:solidFill>
                <a:latin typeface="Segoe UI"/>
              </a:rPr>
              <a:t>Who occludes whom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86800" y="2606040"/>
            <a:ext cx="2651760" cy="27432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I5 · IMAGE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annotated frame: RGB → masks → IDs → depth layers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~330x220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Pixels and depth in; a fully-annotated instance-depth video dataset out.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OUR IDEA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passes over every frame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926080"/>
            <a:ext cx="1371600" cy="109728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2926080"/>
            <a:ext cx="1152144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0">
                <a:solidFill>
                  <a:srgbClr val="E9EDF3"/>
                </a:solidFill>
                <a:latin typeface="Segoe UI"/>
              </a:rPr>
              <a:t>video frame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286000" y="3364992"/>
            <a:ext cx="36576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83464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3464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7DA3F2"/>
                </a:solidFill>
                <a:latin typeface="Consolas"/>
              </a:rPr>
              <a:t>PASS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Paint the scene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depth everywhere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48640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71500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1500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3ED2BC"/>
                </a:solidFill>
                <a:latin typeface="Consolas"/>
              </a:rPr>
              <a:t>PASS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Find each person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1500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mask + depth layer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366760" y="3364992"/>
            <a:ext cx="201168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595360" y="2468880"/>
            <a:ext cx="2606040" cy="192024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2697480"/>
            <a:ext cx="2606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F5B63F"/>
                </a:solidFill>
                <a:latin typeface="Consolas"/>
              </a:rPr>
              <a:t>PASS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3154680"/>
            <a:ext cx="2606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900" b="1">
                <a:solidFill>
                  <a:srgbClr val="E9EDF3"/>
                </a:solidFill>
                <a:latin typeface="Segoe UI"/>
              </a:rPr>
              <a:t>Fix the overlaps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3794760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reason about pairs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834640" y="4892040"/>
            <a:ext cx="8366760" cy="566928"/>
          </a:xfrm>
          <a:prstGeom prst="roundRect">
            <a:avLst>
              <a:gd name="adj" fmla="val 6000"/>
            </a:avLst>
          </a:prstGeom>
          <a:solidFill>
            <a:srgbClr val="0B0F14"/>
          </a:solidFill>
          <a:ln w="25400">
            <a:solidFill>
              <a:srgbClr val="F283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834640" y="4892040"/>
            <a:ext cx="836676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F2836C"/>
                </a:solidFill>
                <a:latin typeface="Segoe UI"/>
              </a:rPr>
              <a:t>+ ours: memory -- keeps each person across frames (feeds the next frame's Pass 1)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Following the ICCV 2025 recipe -- then extending it where video demands more.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7DA3F2"/>
                </a:solidFill>
                <a:latin typeface="Consolas"/>
              </a:rPr>
              <a:t>PASS 1 · SCENE DEPTH +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Adding memory made it sharper </a:t>
            </a:r>
            <a:r>
              <a:rPr sz="3400" b="1">
                <a:solidFill>
                  <a:srgbClr val="3ED2BC"/>
                </a:solidFill>
                <a:latin typeface="Segoe UI"/>
              </a:rPr>
              <a:t>and</a:t>
            </a:r>
            <a:r>
              <a:rPr sz="3400" b="1">
                <a:solidFill>
                  <a:srgbClr val="E9EDF3"/>
                </a:solidFill>
                <a:latin typeface="Segoe UI"/>
              </a:rPr>
              <a:t> steadier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56616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I2 · IMAGE STRIP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Two scenes × ( RGB | ground truth | our depth )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~560x430 · scripts/visualize_hdi.py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0" y="2286000"/>
            <a:ext cx="4937760" cy="35661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0" y="246888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Consolas"/>
              </a:rPr>
              <a:t>FULL TEST SET (10,400 frames) · baseline → + memory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30175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error (lower wins)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3337560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0" y="32735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0.078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3337560"/>
            <a:ext cx="1603716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95560" y="32735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0.072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39319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Flicker (lower = steadier)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42519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595360" y="41879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0.94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4251959"/>
            <a:ext cx="1700394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195560" y="41879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0.92 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84632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E9EDF3"/>
                </a:solidFill>
                <a:latin typeface="Segoe UI"/>
              </a:rPr>
              <a:t>Accuracy (higher wins)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166359"/>
            <a:ext cx="1611983" cy="146304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95360" y="5102352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93A3B5"/>
                </a:solidFill>
                <a:latin typeface="Consolas"/>
              </a:rPr>
              <a:t>93.8%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35440" y="5166359"/>
            <a:ext cx="1737360" cy="146304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195560" y="5102352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F5B63F"/>
                </a:solidFill>
                <a:latin typeface="Consolas"/>
              </a:rPr>
              <a:t>94.1% 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5532120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>
                <a:solidFill>
                  <a:srgbClr val="3ED2BC"/>
                </a:solidFill>
                <a:latin typeface="Segoe UI"/>
              </a:rPr>
              <a:t>every metric moved the right way -- at once 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Blue = scene model alone · amber = + the memory module (scene model frozen).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3ED2BC"/>
                </a:solidFill>
                <a:latin typeface="Consolas"/>
              </a:rPr>
              <a:t>PASS 2 · FINDING &amp; FOLLOWING PEOPLE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It finds people -- and now </a:t>
            </a:r>
            <a:r>
              <a:rPr sz="3400" b="1">
                <a:solidFill>
                  <a:srgbClr val="3ED2BC"/>
                </a:solidFill>
                <a:latin typeface="Segoe UI"/>
              </a:rPr>
              <a:t>keeps</a:t>
            </a:r>
            <a:r>
              <a:rPr sz="3400" b="1">
                <a:solidFill>
                  <a:srgbClr val="E9EDF3"/>
                </a:solidFill>
                <a:latin typeface="Segoe UI"/>
              </a:rPr>
              <a:t> who they 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12064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V3a · VIDEO -- BEFORE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Identity flicker: the same person strobing colours frame to frame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make_sequence_videos.py (no tracker)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F2836C"/>
                </a:solidFill>
                <a:latin typeface="Segoe UI"/>
              </a:rPr>
              <a:t>Before: new colour every frame.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2286000"/>
            <a:ext cx="4937760" cy="32004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3ED2B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V3b · VIDEO -- AFTER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Same clip, identities locked: one person, one colour, start to finish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~540x360 · infer_video.py --track-instances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557784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3ED2BC"/>
                </a:solidFill>
                <a:latin typeface="Segoe UI"/>
              </a:rPr>
              <a:t>After: one person, one colour. 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Match people frame-to-frame by overlap, and hold identity through brief disappearances.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PASS 3 · THE TWIST, RESOLVED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From </a:t>
            </a:r>
            <a:r>
              <a:rPr sz="3400" b="1">
                <a:solidFill>
                  <a:srgbClr val="F2836C"/>
                </a:solidFill>
                <a:latin typeface="Segoe UI"/>
              </a:rPr>
              <a:t>harmful</a:t>
            </a:r>
            <a:r>
              <a:rPr sz="3400" b="1">
                <a:solidFill>
                  <a:srgbClr val="E9EDF3"/>
                </a:solidFill>
                <a:latin typeface="Segoe UI"/>
              </a:rPr>
              <a:t> to </a:t>
            </a:r>
            <a:r>
              <a:rPr sz="3400" b="1">
                <a:solidFill>
                  <a:srgbClr val="3ED2BC"/>
                </a:solidFill>
                <a:latin typeface="Segoe UI"/>
              </a:rPr>
              <a:t>helpful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5669280" cy="36576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F2836C"/>
                </a:solidFill>
                <a:latin typeface="Consolas"/>
              </a:rPr>
              <a:t>FIRST VERSION -- refinement backfired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E9EDF3"/>
                </a:solidFill>
                <a:latin typeface="Consolas"/>
              </a:rPr>
              <a:t>0.078</a:t>
            </a:r>
            <a:r>
              <a:rPr sz="2000" b="0">
                <a:solidFill>
                  <a:srgbClr val="5C6B7E"/>
                </a:solidFill>
                <a:latin typeface="Segoe UI"/>
              </a:rPr>
              <a:t>  →  </a:t>
            </a:r>
            <a:r>
              <a:rPr sz="2600" b="1">
                <a:solidFill>
                  <a:srgbClr val="E4573D"/>
                </a:solidFill>
                <a:latin typeface="Consolas"/>
              </a:rPr>
              <a:t>0.139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42900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F2836C"/>
                </a:solidFill>
                <a:latin typeface="Segoe UI"/>
              </a:rPr>
              <a:t>whole scene drifted (+78%), and overlaps got worse too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97280" y="3886200"/>
            <a:ext cx="5120640" cy="18288"/>
          </a:xfrm>
          <a:prstGeom prst="roundRect">
            <a:avLst>
              <a:gd name="adj" fmla="val 6000"/>
            </a:avLst>
          </a:prstGeom>
          <a:solidFill>
            <a:srgbClr val="2A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977639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3ED2BC"/>
                </a:solidFill>
                <a:latin typeface="Consolas"/>
              </a:rPr>
              <a:t>AFTER THE FIX -- freeze the scene · cap each edit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343400"/>
            <a:ext cx="2560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Whole scene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4617720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3ED2BC"/>
                </a:solidFill>
                <a:latin typeface="Consolas"/>
              </a:rPr>
              <a:t>0.078 </a:t>
            </a:r>
            <a:r>
              <a:rPr sz="1400" b="0">
                <a:solidFill>
                  <a:srgbClr val="3ED2BC"/>
                </a:solidFill>
                <a:latin typeface="Segoe UI"/>
              </a:rPr>
              <a:t>pinned 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40" y="43434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Where people OVERLAP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9040" y="46177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>
                <a:solidFill>
                  <a:srgbClr val="93A3B5"/>
                </a:solidFill>
                <a:latin typeface="Consolas"/>
              </a:rPr>
              <a:t>0.056</a:t>
            </a:r>
            <a:r>
              <a:rPr sz="1600" b="0">
                <a:solidFill>
                  <a:srgbClr val="5C6B7E"/>
                </a:solidFill>
                <a:latin typeface="Segoe UI"/>
              </a:rPr>
              <a:t> → </a:t>
            </a:r>
            <a:r>
              <a:rPr sz="2200" b="1">
                <a:solidFill>
                  <a:srgbClr val="3ED2BC"/>
                </a:solidFill>
                <a:latin typeface="Consolas"/>
              </a:rPr>
              <a:t>0.055 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5532120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93A3B5"/>
                </a:solidFill>
                <a:latin typeface="Consolas"/>
              </a:rPr>
              <a:t>full test set · 10,400 frames · 3,083 with real overlap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58000" y="2286000"/>
            <a:ext cx="4480560" cy="214884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V4 · VIDEO / TOGGLE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Depth halos ringing every person → clean, capped corrections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~520x300 · infer_video.py --compare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4572000"/>
            <a:ext cx="4480560" cy="13716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I4 · ZOOM CROP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The old ring artifact, close up -- now bounded away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~520x200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THE ROAD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the journey actually looked like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3429000"/>
            <a:ext cx="10545775" cy="27432"/>
          </a:xfrm>
          <a:prstGeom prst="roundRect">
            <a:avLst>
              <a:gd name="adj" fmla="val 6000"/>
            </a:avLst>
          </a:prstGeom>
          <a:solidFill>
            <a:srgbClr val="2A35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776953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E45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7377" y="2286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Silent module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7377" y="26334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trained · changed nothing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108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E457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706532" y="37033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Metric was noise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06532" y="405079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gains mathematically invisible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995263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15687" y="2286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Depth halos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15687" y="26334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every edit left a ring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4418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24842" y="370332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Weights wouldn't 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24842" y="4050791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a library renamed everything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13573" y="3337560"/>
            <a:ext cx="201168" cy="201168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3997" y="2286000"/>
            <a:ext cx="2560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E9EDF3"/>
                </a:solidFill>
                <a:latin typeface="Segoe UI"/>
              </a:rPr>
              <a:t>Empty-frame crash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33997" y="2633472"/>
            <a:ext cx="2560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>
                <a:solidFill>
                  <a:srgbClr val="93A3B5"/>
                </a:solidFill>
                <a:latin typeface="Segoe UI"/>
              </a:rPr>
              <a:t>only when nobody overlapped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51206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3ED2BC"/>
                </a:solidFill>
                <a:latin typeface="Segoe UI"/>
              </a:rPr>
              <a:t>every one of these is now a regression test ✓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LESSONS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What we learned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688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269748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“No gradient, no learning.”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383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A module changes nothing unless the loss asks it to.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246888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69748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“Measure the noise floor first.”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338328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Our metric couldn't even see the improvement we chased.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38912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6177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“Freezing can beat fine-tuning.”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53035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Protect what already works; edit only what you supervise.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389120"/>
            <a:ext cx="5029200" cy="160020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617720"/>
            <a:ext cx="4389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100" b="1">
                <a:solidFill>
                  <a:srgbClr val="E9EDF3"/>
                </a:solidFill>
                <a:latin typeface="Segoe UI"/>
              </a:rPr>
              <a:t>“Rehearse tiny, then train big.”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37960" y="5303520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93A3B5"/>
                </a:solidFill>
                <a:latin typeface="Segoe UI"/>
              </a:rPr>
              <a:t>A 10-minute dry run has caught four crashes so far.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Shipped -- and the one big lever left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42316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06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Punish flicker, not motion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20040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the loss that woke the memory module up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242316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166360" y="2606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Train where movement lives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66360" y="320040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clips chosen by measured motion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11480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9768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Corrections, capped (±15%)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892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no more halos; refinement only helps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92040" y="4114800"/>
            <a:ext cx="3794760" cy="141732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12700">
            <a:solidFill>
              <a:srgbClr val="2A354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429768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E9EDF3"/>
                </a:solidFill>
                <a:latin typeface="Segoe UI"/>
              </a:rPr>
              <a:t>Remember hidden people  </a:t>
            </a:r>
            <a:r>
              <a:rPr sz="1600" b="1">
                <a:solidFill>
                  <a:srgbClr val="3ED2BC"/>
                </a:solidFill>
                <a:latin typeface="Segoe U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66360" y="4892040"/>
            <a:ext cx="3246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93A3B5"/>
                </a:solidFill>
                <a:latin typeface="Segoe UI"/>
              </a:rPr>
              <a:t>depth carried through occlusion, no retraining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23960" y="2423160"/>
            <a:ext cx="2514600" cy="31089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2225">
            <a:solidFill>
              <a:srgbClr val="F5B63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52560" y="26517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F5B63F"/>
                </a:solidFill>
                <a:latin typeface="Consolas"/>
              </a:rPr>
              <a:t>THE BIG LEVER · IN FLIGHT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52560" y="3063240"/>
            <a:ext cx="21031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>
                <a:solidFill>
                  <a:srgbClr val="E9EDF3"/>
                </a:solidFill>
                <a:latin typeface="Segoe UI"/>
              </a:rPr>
              <a:t>Borrow the </a:t>
            </a:r>
            <a:r>
              <a:rPr sz="1800" b="1">
                <a:solidFill>
                  <a:srgbClr val="F5B63F"/>
                </a:solidFill>
                <a:latin typeface="Segoe UI"/>
              </a:rPr>
              <a:t>whole</a:t>
            </a:r>
            <a:r>
              <a:rPr sz="1800" b="1">
                <a:solidFill>
                  <a:srgbClr val="E9EDF3"/>
                </a:solidFill>
                <a:latin typeface="Segoe UI"/>
              </a:rPr>
              <a:t> pretrained depth model -- not just its backbone.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4754880"/>
            <a:ext cx="2103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93A3B5"/>
                </a:solidFill>
                <a:latin typeface="Segoe UI"/>
              </a:rPr>
              <a:t>aims straight at the last near-range accuracy gap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Three moves ahead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3E6F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Stronger prior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11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close the near-range gap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18795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61772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1FA49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Identities that persist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3611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follow people, don't re-find them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7982712" y="3401568"/>
            <a:ext cx="320040" cy="219456"/>
          </a:xfrm>
          <a:prstGeom prst="rightArrow">
            <a:avLst/>
          </a:prstGeom>
          <a:solidFill>
            <a:srgbClr val="5C6B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412480" y="2651760"/>
            <a:ext cx="3291840" cy="1737360"/>
          </a:xfrm>
          <a:prstGeom prst="roundRect">
            <a:avLst>
              <a:gd name="adj" fmla="val 6000"/>
            </a:avLst>
          </a:prstGeom>
          <a:solidFill>
            <a:srgbClr val="131A23"/>
          </a:solidFill>
          <a:ln w="25400">
            <a:solidFill>
              <a:srgbClr val="B07D1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0" y="297180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E9EDF3"/>
                </a:solidFill>
                <a:latin typeface="Segoe UI"/>
              </a:rPr>
              <a:t>Beyond our lab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3611880"/>
            <a:ext cx="3291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400" b="0">
                <a:solidFill>
                  <a:srgbClr val="93A3B5"/>
                </a:solidFill>
                <a:latin typeface="Segoe UI"/>
              </a:rPr>
              <a:t>hold up on foreign footage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3776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F5B63F"/>
                </a:solidFill>
                <a:latin typeface="Segoe UI"/>
              </a:rPr>
              <a:t>… then the write-up.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64008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F5B63F"/>
                </a:solidFill>
                <a:latin typeface="Consolas"/>
              </a:rPr>
              <a:t>WHERE WE 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5156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>
                <a:solidFill>
                  <a:srgbClr val="E9EDF3"/>
                </a:solidFill>
                <a:latin typeface="Segoe UI"/>
              </a:rPr>
              <a:t>Reproduce → diagnose → </a:t>
            </a:r>
            <a:r>
              <a:rPr sz="3400" b="1">
                <a:solidFill>
                  <a:srgbClr val="F5B63F"/>
                </a:solidFill>
                <a:latin typeface="Segoe UI"/>
              </a:rPr>
              <a:t>extend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2286000"/>
            <a:ext cx="10545775" cy="310896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V5 · VIDEO -- THE PAYOFF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One person walks behind another -- and stays the same colour, at the same depth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~1128x380 · make_sequence_videos.py --track-instances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577840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0">
                <a:solidFill>
                  <a:srgbClr val="93A3B5"/>
                </a:solidFill>
                <a:latin typeface="Segoe UI"/>
              </a:rPr>
              <a:t>The diagnosis became the contribution.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6309360"/>
            <a:ext cx="12191695" cy="548640"/>
          </a:xfrm>
          <a:prstGeom prst="roundRect">
            <a:avLst>
              <a:gd name="adj" fmla="val 6000"/>
            </a:avLst>
          </a:prstGeom>
          <a:solidFill>
            <a:srgbClr val="B07D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0" y="6080760"/>
            <a:ext cx="12191695" cy="256032"/>
          </a:xfrm>
          <a:prstGeom prst="roundRect">
            <a:avLst>
              <a:gd name="adj" fmla="val 6000"/>
            </a:avLst>
          </a:prstGeom>
          <a:solidFill>
            <a:srgbClr val="1FA4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0" y="5897880"/>
            <a:ext cx="12191695" cy="182880"/>
          </a:xfrm>
          <a:prstGeom prst="roundRect">
            <a:avLst>
              <a:gd name="adj" fmla="val 6000"/>
            </a:avLst>
          </a:prstGeom>
          <a:solidFill>
            <a:srgbClr val="3E6F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194560"/>
            <a:ext cx="8229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>
                <a:solidFill>
                  <a:srgbClr val="E9EDF3"/>
                </a:solidFill>
                <a:latin typeface="Segoe UI"/>
              </a:rPr>
              <a:t>Thank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6576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>
                <a:solidFill>
                  <a:srgbClr val="93A3B5"/>
                </a:solidFill>
                <a:latin typeface="Segoe UI"/>
              </a:rPr>
              <a:t>Questions -- or a walk through any pothole on the road slide.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5720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5C6B7E"/>
                </a:solidFill>
                <a:latin typeface="Consolas"/>
              </a:rPr>
              <a:t>github.com/KSJanjua/ProCodes · videodepth/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509760" y="2194560"/>
            <a:ext cx="1828800" cy="1828800"/>
          </a:xfrm>
          <a:prstGeom prst="roundRect">
            <a:avLst>
              <a:gd name="adj" fmla="val 6000"/>
            </a:avLst>
          </a:prstGeom>
          <a:solidFill>
            <a:srgbClr val="182230"/>
          </a:solidFill>
          <a:ln w="19050">
            <a:solidFill>
              <a:srgbClr val="F5B63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</a:pPr>
            <a:r>
              <a:rPr sz="1100" b="1">
                <a:solidFill>
                  <a:srgbClr val="F5B63F"/>
                </a:solidFill>
                <a:latin typeface="Consolas"/>
              </a:rPr>
              <a:t>QR1</a:t>
            </a:r>
          </a:p>
          <a:p>
            <a:pPr algn="ctr">
              <a:spcBef>
                <a:spcPts val="300"/>
              </a:spcBef>
            </a:pPr>
            <a:r>
              <a:rPr sz="1250" b="0">
                <a:solidFill>
                  <a:srgbClr val="E9EDF3"/>
                </a:solidFill>
                <a:latin typeface="Segoe UI"/>
              </a:rPr>
              <a:t>QR → repo</a:t>
            </a:r>
          </a:p>
          <a:p>
            <a:pPr algn="ctr">
              <a:spcBef>
                <a:spcPts val="300"/>
              </a:spcBef>
            </a:pPr>
            <a:r>
              <a:rPr sz="1000" b="0">
                <a:solidFill>
                  <a:srgbClr val="5C6B7E"/>
                </a:solidFill>
                <a:latin typeface="Consolas"/>
              </a:rPr>
              <a:t>200x200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C6B7E"/>
                </a:solidFill>
                <a:latin typeface="Consolas"/>
              </a:rPr>
              <a:t>BACKUP · NOT PART OF THE TALK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E9EDF3"/>
                </a:solidFill>
                <a:latin typeface="Segoe UI"/>
              </a:rPr>
              <a:t>Editor's manifest -- media to drop in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737360"/>
          <a:ext cx="10543032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3017520"/>
                <a:gridCol w="1463040"/>
                <a:gridCol w="5148072"/>
              </a:tblGrid>
              <a:tr h="407323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ID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Slide · position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Size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5B63F"/>
                          </a:solidFill>
                          <a:latin typeface="Consolas"/>
                        </a:rPr>
                        <a:t>Produce with</a:t>
                      </a:r>
                    </a:p>
                  </a:txBody>
                  <a:tcPr marL="91440" marT="27432" marB="27432" anchor="ctr">
                    <a:solidFill>
                      <a:srgbClr val="182230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S2 · right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620x460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--compare (baseline failing)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I1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S3 · card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300x210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visualize_phase3.py error-panel crop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S5 · right -- the dataset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330x220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one frame: RGB → masks → IDs → layers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I2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S7 · left half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560x430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visualize_hdi.py, 2 scenes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V3a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left -- BEFORE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(no tracker)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V3b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S8 · right -- AFTER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540x360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infer_video.py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V4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S9 · right upper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520x300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rings-vs-capped (infer_video --compare)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I4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S9 · right lower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520x200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ring-artifact zoom crop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23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V5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S14 · main -- payoff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1128x380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make_sequence_videos.py --track-instances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  <a:tr h="40733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E9EDF3"/>
                          </a:solidFill>
                          <a:latin typeface="Consolas"/>
                        </a:rPr>
                        <a:t>QR1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S15 · right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200x200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93A3B5"/>
                          </a:solidFill>
                          <a:latin typeface="Consolas"/>
                        </a:rPr>
                        <a:t>QR to repo</a:t>
                      </a:r>
                    </a:p>
                  </a:txBody>
                  <a:tcPr marL="91440" marT="27432" marB="27432" anchor="ctr">
                    <a:solidFill>
                      <a:srgbClr val="131A2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822960" y="6291072"/>
            <a:ext cx="1054577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>
                <a:solidFill>
                  <a:srgbClr val="5C6B7E"/>
                </a:solidFill>
                <a:latin typeface="Segoe UI"/>
              </a:rPr>
              <a:t>Swap any video in as an inserted media clip. V3b and V5 MUST use --track-instances so colours stay locked.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